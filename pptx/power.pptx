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embeddedFontLst>
    <p:embeddedFont>
      <p:font typeface="Rubik" pitchFamily="2" charset="-79"/>
      <p:regular r:id="rId18"/>
      <p:bold r:id="rId19"/>
    </p:embeddedFont>
    <p:embeddedFont>
      <p:font typeface="Rubik Medium" pitchFamily="2" charset="-79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1511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225889"/>
            <a:ext cx="728428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50" kern="0" spc="5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DIGITAL GRID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408756" y="1475184"/>
            <a:ext cx="3195957" cy="142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331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 инспекции</a:t>
            </a:r>
            <a:endParaRPr lang="en-US" sz="3310" dirty="0"/>
          </a:p>
          <a:p>
            <a:pPr marL="0" indent="0" algn="l">
              <a:lnSpc>
                <a:spcPts val="3640"/>
              </a:lnSpc>
              <a:buNone/>
            </a:pPr>
            <a:r>
              <a:rPr lang="en-US" sz="331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 управлению ЛЭП</a:t>
            </a:r>
            <a:endParaRPr lang="en-US" sz="3310" dirty="0"/>
          </a:p>
        </p:txBody>
      </p:sp>
      <p:sp>
        <p:nvSpPr>
          <p:cNvPr id="5" name="Text 2"/>
          <p:cNvSpPr txBox="1"/>
          <p:nvPr/>
        </p:nvSpPr>
        <p:spPr>
          <a:xfrm>
            <a:off x="408756" y="2985660"/>
            <a:ext cx="3638823" cy="636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1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Мы предлагаем не просто дроны или AI, а единую интеллектуальную платформу для управления линиями электропередачи.</a:t>
            </a:r>
            <a:endParaRPr lang="en-US" sz="1110" dirty="0"/>
          </a:p>
        </p:txBody>
      </p:sp>
      <p:sp>
        <p:nvSpPr>
          <p:cNvPr id="6" name="Text 3"/>
          <p:cNvSpPr txBox="1"/>
          <p:nvPr/>
        </p:nvSpPr>
        <p:spPr>
          <a:xfrm>
            <a:off x="5108279" y="2186753"/>
            <a:ext cx="847101" cy="30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Автономные</a:t>
            </a:r>
            <a:endParaRPr lang="en-US" sz="930" dirty="0"/>
          </a:p>
          <a:p>
            <a:pPr marL="0" indent="0" algn="ctr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инспекции</a:t>
            </a:r>
            <a:endParaRPr lang="en-US" sz="930" dirty="0"/>
          </a:p>
        </p:txBody>
      </p:sp>
      <p:sp>
        <p:nvSpPr>
          <p:cNvPr id="7" name="Text 4"/>
          <p:cNvSpPr txBox="1"/>
          <p:nvPr/>
        </p:nvSpPr>
        <p:spPr>
          <a:xfrm>
            <a:off x="7109557" y="2186753"/>
            <a:ext cx="1213060" cy="30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AI-распознавание</a:t>
            </a:r>
            <a:endParaRPr lang="en-US" sz="930" dirty="0"/>
          </a:p>
          <a:p>
            <a:pPr marL="0" indent="0" algn="ctr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дефектов</a:t>
            </a:r>
            <a:endParaRPr lang="en-US" sz="930" dirty="0"/>
          </a:p>
        </p:txBody>
      </p:sp>
      <p:sp>
        <p:nvSpPr>
          <p:cNvPr id="8" name="Text 5"/>
          <p:cNvSpPr txBox="1"/>
          <p:nvPr/>
        </p:nvSpPr>
        <p:spPr>
          <a:xfrm>
            <a:off x="5089588" y="2892645"/>
            <a:ext cx="884372" cy="30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Цифровой</a:t>
            </a:r>
            <a:endParaRPr lang="en-US" sz="930" dirty="0"/>
          </a:p>
          <a:p>
            <a:pPr marL="0" indent="0" algn="ctr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двойник ЛЭП</a:t>
            </a:r>
            <a:endParaRPr lang="en-US" sz="930" dirty="0"/>
          </a:p>
        </p:txBody>
      </p:sp>
      <p:sp>
        <p:nvSpPr>
          <p:cNvPr id="9" name="Text 6"/>
          <p:cNvSpPr txBox="1"/>
          <p:nvPr/>
        </p:nvSpPr>
        <p:spPr>
          <a:xfrm>
            <a:off x="7014902" y="2892645"/>
            <a:ext cx="1402369" cy="30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Автоматизация</a:t>
            </a:r>
            <a:endParaRPr lang="en-US" sz="930" dirty="0"/>
          </a:p>
          <a:p>
            <a:pPr marL="0" indent="0" algn="ctr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обслуживания (O&amp;M)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383418"/>
            <a:ext cx="6189057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Текущие ограничения инспекций ЛЭП</a:t>
            </a:r>
            <a:endParaRPr lang="en-US" sz="2370" dirty="0"/>
          </a:p>
        </p:txBody>
      </p:sp>
      <p:sp>
        <p:nvSpPr>
          <p:cNvPr id="4" name="Text 1"/>
          <p:cNvSpPr txBox="1"/>
          <p:nvPr/>
        </p:nvSpPr>
        <p:spPr>
          <a:xfrm>
            <a:off x="539688" y="2494495"/>
            <a:ext cx="3618236" cy="15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7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Ручные обходы и высокая зависимость от персонала</a:t>
            </a:r>
            <a:endParaRPr lang="en-US" sz="970" dirty="0"/>
          </a:p>
        </p:txBody>
      </p:sp>
      <p:sp>
        <p:nvSpPr>
          <p:cNvPr id="5" name="Text 2"/>
          <p:cNvSpPr txBox="1"/>
          <p:nvPr/>
        </p:nvSpPr>
        <p:spPr>
          <a:xfrm>
            <a:off x="4785085" y="2494495"/>
            <a:ext cx="1614633" cy="15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7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Риски для сотрудников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539688" y="4504010"/>
            <a:ext cx="2242666" cy="15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7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Медленное выявление дефектов</a:t>
            </a:r>
            <a:endParaRPr lang="en-US" sz="970" dirty="0"/>
          </a:p>
        </p:txBody>
      </p:sp>
      <p:sp>
        <p:nvSpPr>
          <p:cNvPr id="7" name="Text 4"/>
          <p:cNvSpPr txBox="1"/>
          <p:nvPr/>
        </p:nvSpPr>
        <p:spPr>
          <a:xfrm>
            <a:off x="4785085" y="4504010"/>
            <a:ext cx="3104497" cy="15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7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Потери данных и отсутствие единой системы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383418"/>
            <a:ext cx="4964107" cy="70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Интеллектуальная платформа</a:t>
            </a:r>
            <a:endParaRPr lang="en-US" sz="237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для ЛЭП</a:t>
            </a:r>
            <a:endParaRPr lang="en-US" sz="2370" dirty="0"/>
          </a:p>
        </p:txBody>
      </p:sp>
      <p:sp>
        <p:nvSpPr>
          <p:cNvPr id="4" name="Text 1"/>
          <p:cNvSpPr txBox="1"/>
          <p:nvPr/>
        </p:nvSpPr>
        <p:spPr>
          <a:xfrm>
            <a:off x="1376335" y="2567620"/>
            <a:ext cx="61851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0"/>
              </a:lnSpc>
              <a:buNone/>
            </a:pPr>
            <a:r>
              <a:rPr lang="en-US" sz="12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Дроны</a:t>
            </a:r>
            <a:endParaRPr lang="en-US" sz="1260" dirty="0"/>
          </a:p>
        </p:txBody>
      </p:sp>
      <p:sp>
        <p:nvSpPr>
          <p:cNvPr id="5" name="Text 2"/>
          <p:cNvSpPr txBox="1"/>
          <p:nvPr/>
        </p:nvSpPr>
        <p:spPr>
          <a:xfrm>
            <a:off x="1342496" y="2810696"/>
            <a:ext cx="686188" cy="16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10"/>
              </a:lnSpc>
              <a:buNone/>
            </a:pPr>
            <a:r>
              <a:rPr lang="en-US" sz="9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инспекция</a:t>
            </a:r>
            <a:endParaRPr lang="en-US" sz="930" dirty="0"/>
          </a:p>
        </p:txBody>
      </p:sp>
      <p:sp>
        <p:nvSpPr>
          <p:cNvPr id="6" name="Text 3"/>
          <p:cNvSpPr txBox="1"/>
          <p:nvPr/>
        </p:nvSpPr>
        <p:spPr>
          <a:xfrm>
            <a:off x="3090230" y="2638723"/>
            <a:ext cx="110333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3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›</a:t>
            </a:r>
            <a:endParaRPr lang="en-US" sz="1730" dirty="0"/>
          </a:p>
        </p:txBody>
      </p:sp>
      <p:sp>
        <p:nvSpPr>
          <p:cNvPr id="7" name="Text 4"/>
          <p:cNvSpPr txBox="1"/>
          <p:nvPr/>
        </p:nvSpPr>
        <p:spPr>
          <a:xfrm>
            <a:off x="3790658" y="2567620"/>
            <a:ext cx="156257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0"/>
              </a:lnSpc>
              <a:buNone/>
            </a:pPr>
            <a:r>
              <a:rPr lang="en-US" sz="12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 и Data platform</a:t>
            </a:r>
            <a:endParaRPr lang="en-US" sz="1260" dirty="0"/>
          </a:p>
        </p:txBody>
      </p:sp>
      <p:sp>
        <p:nvSpPr>
          <p:cNvPr id="8" name="Text 5"/>
          <p:cNvSpPr txBox="1"/>
          <p:nvPr/>
        </p:nvSpPr>
        <p:spPr>
          <a:xfrm>
            <a:off x="3982449" y="2810696"/>
            <a:ext cx="1179103" cy="16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10"/>
              </a:lnSpc>
              <a:buNone/>
            </a:pPr>
            <a:r>
              <a:rPr lang="en-US" sz="9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анализ и хранение</a:t>
            </a:r>
            <a:endParaRPr lang="en-US" sz="930" dirty="0"/>
          </a:p>
        </p:txBody>
      </p:sp>
      <p:sp>
        <p:nvSpPr>
          <p:cNvPr id="9" name="Text 6"/>
          <p:cNvSpPr txBox="1"/>
          <p:nvPr/>
        </p:nvSpPr>
        <p:spPr>
          <a:xfrm>
            <a:off x="5976640" y="2638723"/>
            <a:ext cx="110333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3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›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7250912" y="2567620"/>
            <a:ext cx="41488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0"/>
              </a:lnSpc>
              <a:buNone/>
            </a:pPr>
            <a:r>
              <a:rPr lang="en-US" sz="12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O&amp;M</a:t>
            </a:r>
            <a:endParaRPr lang="en-US" sz="1260" dirty="0"/>
          </a:p>
        </p:txBody>
      </p:sp>
      <p:sp>
        <p:nvSpPr>
          <p:cNvPr id="11" name="Text 8"/>
          <p:cNvSpPr txBox="1"/>
          <p:nvPr/>
        </p:nvSpPr>
        <p:spPr>
          <a:xfrm>
            <a:off x="6776100" y="2810696"/>
            <a:ext cx="1364508" cy="16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10"/>
              </a:lnSpc>
              <a:buNone/>
            </a:pPr>
            <a:r>
              <a:rPr lang="en-US" sz="93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управление задачами</a:t>
            </a:r>
            <a:endParaRPr lang="en-US" sz="930" dirty="0"/>
          </a:p>
        </p:txBody>
      </p:sp>
      <p:sp>
        <p:nvSpPr>
          <p:cNvPr id="12" name="Text 9"/>
          <p:cNvSpPr txBox="1"/>
          <p:nvPr/>
        </p:nvSpPr>
        <p:spPr>
          <a:xfrm>
            <a:off x="3508350" y="4555873"/>
            <a:ext cx="2127188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Всё в едином цифровом контуре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37121" y="383418"/>
            <a:ext cx="566975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Полностью автономная инспекция</a:t>
            </a:r>
            <a:endParaRPr lang="en-US" sz="2370" dirty="0"/>
          </a:p>
        </p:txBody>
      </p:sp>
      <p:sp>
        <p:nvSpPr>
          <p:cNvPr id="4" name="Text 1"/>
          <p:cNvSpPr txBox="1"/>
          <p:nvPr/>
        </p:nvSpPr>
        <p:spPr>
          <a:xfrm>
            <a:off x="541697" y="2195283"/>
            <a:ext cx="2338149" cy="160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7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Автозапуск и автопосадка дронов</a:t>
            </a:r>
            <a:endParaRPr lang="en-US" sz="970" dirty="0"/>
          </a:p>
        </p:txBody>
      </p:sp>
      <p:sp>
        <p:nvSpPr>
          <p:cNvPr id="5" name="Text 2"/>
          <p:cNvSpPr txBox="1"/>
          <p:nvPr/>
        </p:nvSpPr>
        <p:spPr>
          <a:xfrm>
            <a:off x="541697" y="2734748"/>
            <a:ext cx="2009934" cy="3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7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Обход препятствий (деревья, здания, провода)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6352245" y="2275315"/>
            <a:ext cx="1431476" cy="160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7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Полёт без оператора</a:t>
            </a:r>
            <a:endParaRPr lang="en-US" sz="970" dirty="0"/>
          </a:p>
        </p:txBody>
      </p:sp>
      <p:sp>
        <p:nvSpPr>
          <p:cNvPr id="7" name="Text 4"/>
          <p:cNvSpPr txBox="1"/>
          <p:nvPr/>
        </p:nvSpPr>
        <p:spPr>
          <a:xfrm>
            <a:off x="6352245" y="2814780"/>
            <a:ext cx="2077849" cy="160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7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Автоматическое возвращение</a:t>
            </a:r>
            <a:endParaRPr lang="en-US" sz="970" dirty="0"/>
          </a:p>
        </p:txBody>
      </p:sp>
      <p:sp>
        <p:nvSpPr>
          <p:cNvPr id="8" name="Text 5"/>
          <p:cNvSpPr txBox="1"/>
          <p:nvPr/>
        </p:nvSpPr>
        <p:spPr>
          <a:xfrm>
            <a:off x="2824470" y="4548783"/>
            <a:ext cx="3494948" cy="1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Без участия человека. </a:t>
            </a:r>
            <a:r>
              <a:rPr lang="en-US" sz="930" b="1" dirty="0">
                <a:solidFill>
                  <a:srgbClr val="1889D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Стабильное качество данных.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383418"/>
            <a:ext cx="3692540" cy="70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Умная инспекция ЛЭП:</a:t>
            </a:r>
            <a:endParaRPr lang="en-US" sz="237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 + Computer Vision</a:t>
            </a:r>
            <a:endParaRPr lang="en-US" sz="2370" dirty="0"/>
          </a:p>
        </p:txBody>
      </p:sp>
      <p:sp>
        <p:nvSpPr>
          <p:cNvPr id="4" name="Text 1"/>
          <p:cNvSpPr txBox="1"/>
          <p:nvPr/>
        </p:nvSpPr>
        <p:spPr>
          <a:xfrm>
            <a:off x="693046" y="3981350"/>
            <a:ext cx="1417159" cy="29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Распознавание опор,</a:t>
            </a:r>
            <a:endParaRPr lang="en-US" sz="900" dirty="0"/>
          </a:p>
          <a:p>
            <a:pPr marL="0" indent="0" algn="ctr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проводов, изоляторов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2951768" y="3981350"/>
            <a:ext cx="1126806" cy="29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Авто-зум и фокус</a:t>
            </a:r>
            <a:endParaRPr lang="en-US" sz="900" dirty="0"/>
          </a:p>
          <a:p>
            <a:pPr marL="0" indent="0" algn="ctr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 объектах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025207" y="3981350"/>
            <a:ext cx="1206908" cy="29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Определение</a:t>
            </a:r>
            <a:endParaRPr lang="en-US" sz="900" dirty="0"/>
          </a:p>
          <a:p>
            <a:pPr marL="0" indent="0" algn="ctr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дефектов и рисков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097456" y="3981350"/>
            <a:ext cx="1289612" cy="29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Анализ</a:t>
            </a:r>
            <a:endParaRPr lang="en-US" sz="900" dirty="0"/>
          </a:p>
          <a:p>
            <a:pPr marL="0" indent="0" algn="ctr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 реальном времени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592445" y="4548783"/>
            <a:ext cx="3959111" cy="1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 </a:t>
            </a:r>
            <a:r>
              <a:rPr lang="en-US" sz="930" b="1" dirty="0">
                <a:solidFill>
                  <a:srgbClr val="1889D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80%</a:t>
            </a:r>
            <a:r>
              <a:rPr lang="en-US" sz="93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элементов сети автоматически классифицируются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383418"/>
            <a:ext cx="5637220" cy="70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Линейка интеллектуальных камер</a:t>
            </a:r>
            <a:endParaRPr lang="en-US" sz="237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для мониторинга ЛЭП</a:t>
            </a:r>
            <a:endParaRPr lang="en-US" sz="2370" dirty="0"/>
          </a:p>
        </p:txBody>
      </p:sp>
      <p:sp>
        <p:nvSpPr>
          <p:cNvPr id="4" name="Text 1"/>
          <p:cNvSpPr txBox="1"/>
          <p:nvPr/>
        </p:nvSpPr>
        <p:spPr>
          <a:xfrm>
            <a:off x="1273932" y="1305351"/>
            <a:ext cx="1600434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Фиксированная камера</a:t>
            </a:r>
            <a:endParaRPr lang="en-US" sz="970" dirty="0"/>
          </a:p>
        </p:txBody>
      </p:sp>
      <p:sp>
        <p:nvSpPr>
          <p:cNvPr id="5" name="Text 2"/>
          <p:cNvSpPr txBox="1"/>
          <p:nvPr/>
        </p:nvSpPr>
        <p:spPr>
          <a:xfrm>
            <a:off x="1273932" y="1478008"/>
            <a:ext cx="1770813" cy="258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75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Базовый непрерывный мониторинг выделенного участка сети.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273932" y="2031558"/>
            <a:ext cx="1798736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Многообъективная камера</a:t>
            </a:r>
            <a:endParaRPr lang="en-US" sz="970" dirty="0"/>
          </a:p>
        </p:txBody>
      </p:sp>
      <p:sp>
        <p:nvSpPr>
          <p:cNvPr id="7" name="Text 4"/>
          <p:cNvSpPr txBox="1"/>
          <p:nvPr/>
        </p:nvSpPr>
        <p:spPr>
          <a:xfrm>
            <a:off x="1273932" y="2204215"/>
            <a:ext cx="2009698" cy="258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75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Панорамный контроль на 360° — полное отсутствие слепых зон.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1273932" y="2757765"/>
            <a:ext cx="817404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PTZ-камера</a:t>
            </a:r>
            <a:endParaRPr lang="en-US" sz="970" dirty="0"/>
          </a:p>
        </p:txBody>
      </p:sp>
      <p:sp>
        <p:nvSpPr>
          <p:cNvPr id="9" name="Text 6"/>
          <p:cNvSpPr txBox="1"/>
          <p:nvPr/>
        </p:nvSpPr>
        <p:spPr>
          <a:xfrm>
            <a:off x="1273932" y="2930422"/>
            <a:ext cx="2235804" cy="258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75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Управляемый поворот и мощный зум для детального контроля обширных территорий.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1273932" y="3461313"/>
            <a:ext cx="1641491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Тепловизионная камера</a:t>
            </a:r>
            <a:endParaRPr lang="en-US" sz="970" dirty="0"/>
          </a:p>
        </p:txBody>
      </p:sp>
      <p:sp>
        <p:nvSpPr>
          <p:cNvPr id="11" name="Text 8"/>
          <p:cNvSpPr txBox="1"/>
          <p:nvPr/>
        </p:nvSpPr>
        <p:spPr>
          <a:xfrm>
            <a:off x="1273932" y="3633970"/>
            <a:ext cx="2259586" cy="38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75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Высокоточное обнаружение перегревов, температурных аномалий и предотвращение аварий.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3945024" y="1356878"/>
            <a:ext cx="3350836" cy="20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30" b="1" kern="0" spc="-10" dirty="0">
                <a:solidFill>
                  <a:srgbClr val="086EB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Камера прямой установки на провод</a:t>
            </a:r>
            <a:endParaRPr lang="en-US" sz="1330" dirty="0"/>
          </a:p>
        </p:txBody>
      </p:sp>
      <p:sp>
        <p:nvSpPr>
          <p:cNvPr id="13" name="Text 10"/>
          <p:cNvSpPr txBox="1"/>
          <p:nvPr/>
        </p:nvSpPr>
        <p:spPr>
          <a:xfrm>
            <a:off x="3945024" y="1601087"/>
            <a:ext cx="4610453" cy="15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860" i="1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Ключевое автономное решение нашей компании для труднодоступных участков.</a:t>
            </a:r>
            <a:endParaRPr lang="en-US" sz="860" dirty="0"/>
          </a:p>
        </p:txBody>
      </p:sp>
      <p:sp>
        <p:nvSpPr>
          <p:cNvPr id="14" name="Text 11"/>
          <p:cNvSpPr txBox="1"/>
          <p:nvPr/>
        </p:nvSpPr>
        <p:spPr>
          <a:xfrm>
            <a:off x="3945024" y="1866694"/>
            <a:ext cx="1646342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Монтаж под напряжением: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3945024" y="2028233"/>
            <a:ext cx="1784538" cy="13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установка без отключения линии.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6304583" y="1866694"/>
            <a:ext cx="1372790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Полная автономность:</a:t>
            </a:r>
            <a:endParaRPr lang="en-US" sz="860" dirty="0"/>
          </a:p>
        </p:txBody>
      </p:sp>
      <p:sp>
        <p:nvSpPr>
          <p:cNvPr id="17" name="Text 14"/>
          <p:cNvSpPr txBox="1"/>
          <p:nvPr/>
        </p:nvSpPr>
        <p:spPr>
          <a:xfrm>
            <a:off x="6304583" y="2028233"/>
            <a:ext cx="2242785" cy="27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индуктивное питание непосредственно от фазного провода.</a:t>
            </a:r>
            <a:endParaRPr lang="en-US" sz="790" dirty="0"/>
          </a:p>
        </p:txBody>
      </p:sp>
      <p:sp>
        <p:nvSpPr>
          <p:cNvPr id="18" name="Text 15"/>
          <p:cNvSpPr txBox="1"/>
          <p:nvPr/>
        </p:nvSpPr>
        <p:spPr>
          <a:xfrm>
            <a:off x="3945024" y="2500590"/>
            <a:ext cx="1417751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Абсолютный контроль:</a:t>
            </a:r>
            <a:endParaRPr lang="en-US" sz="860" dirty="0"/>
          </a:p>
        </p:txBody>
      </p:sp>
      <p:sp>
        <p:nvSpPr>
          <p:cNvPr id="19" name="Text 16"/>
          <p:cNvSpPr txBox="1"/>
          <p:nvPr/>
        </p:nvSpPr>
        <p:spPr>
          <a:xfrm>
            <a:off x="3945024" y="2662129"/>
            <a:ext cx="2282185" cy="27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непрерывный мониторинг состояния ЛЭП в реальном времени.</a:t>
            </a:r>
            <a:endParaRPr lang="en-US" sz="790" dirty="0"/>
          </a:p>
        </p:txBody>
      </p:sp>
      <p:sp>
        <p:nvSpPr>
          <p:cNvPr id="20" name="Text 17"/>
          <p:cNvSpPr txBox="1"/>
          <p:nvPr/>
        </p:nvSpPr>
        <p:spPr>
          <a:xfrm>
            <a:off x="6304583" y="2500590"/>
            <a:ext cx="1088589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Умная аналитика:</a:t>
            </a:r>
            <a:endParaRPr lang="en-US" sz="860" dirty="0"/>
          </a:p>
        </p:txBody>
      </p:sp>
      <p:sp>
        <p:nvSpPr>
          <p:cNvPr id="21" name="Text 18"/>
          <p:cNvSpPr txBox="1"/>
          <p:nvPr/>
        </p:nvSpPr>
        <p:spPr>
          <a:xfrm>
            <a:off x="6304583" y="2662129"/>
            <a:ext cx="2133814" cy="27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0"/>
              </a:lnSpc>
              <a:buNone/>
            </a:pPr>
            <a:r>
              <a:rPr lang="en-US" sz="79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встроенный искусственный интеллект и интегрированные сенсоры.</a:t>
            </a:r>
            <a:endParaRPr lang="en-US" sz="790" dirty="0"/>
          </a:p>
        </p:txBody>
      </p:sp>
      <p:sp>
        <p:nvSpPr>
          <p:cNvPr id="22" name="Text 19"/>
          <p:cNvSpPr txBox="1"/>
          <p:nvPr/>
        </p:nvSpPr>
        <p:spPr>
          <a:xfrm>
            <a:off x="534553" y="4267002"/>
            <a:ext cx="1448040" cy="27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Интегрируемые модули</a:t>
            </a:r>
            <a:endParaRPr lang="en-US" sz="860" dirty="0"/>
          </a:p>
          <a:p>
            <a:pPr marL="0" indent="0" algn="l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 смарт-сенсоры:</a:t>
            </a:r>
            <a:endParaRPr lang="en-US" sz="860" dirty="0"/>
          </a:p>
        </p:txBody>
      </p:sp>
      <p:sp>
        <p:nvSpPr>
          <p:cNvPr id="23" name="Text 20"/>
          <p:cNvSpPr txBox="1"/>
          <p:nvPr/>
        </p:nvSpPr>
        <p:spPr>
          <a:xfrm>
            <a:off x="1983172" y="4222392"/>
            <a:ext cx="1626583" cy="36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72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LiDAR</a:t>
            </a:r>
            <a:r>
              <a:rPr lang="en-US" sz="72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— 3D-измерения габаритов и сканирование деревьев-препятствий.</a:t>
            </a:r>
            <a:endParaRPr lang="en-US" sz="720" dirty="0"/>
          </a:p>
        </p:txBody>
      </p:sp>
      <p:sp>
        <p:nvSpPr>
          <p:cNvPr id="24" name="Text 21"/>
          <p:cNvSpPr txBox="1"/>
          <p:nvPr/>
        </p:nvSpPr>
        <p:spPr>
          <a:xfrm>
            <a:off x="3667088" y="4284007"/>
            <a:ext cx="1688227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72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Микрометеостанция</a:t>
            </a:r>
            <a:r>
              <a:rPr lang="en-US" sz="72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— локальный контроль погодных условий.</a:t>
            </a:r>
            <a:endParaRPr lang="en-US" sz="720" dirty="0"/>
          </a:p>
        </p:txBody>
      </p:sp>
      <p:sp>
        <p:nvSpPr>
          <p:cNvPr id="25" name="Text 22"/>
          <p:cNvSpPr txBox="1"/>
          <p:nvPr/>
        </p:nvSpPr>
        <p:spPr>
          <a:xfrm>
            <a:off x="5351004" y="4160777"/>
            <a:ext cx="1423903" cy="49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72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Датчики обледенения и вибраций</a:t>
            </a:r>
            <a:r>
              <a:rPr lang="en-US" sz="72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— раннее предупреждение физических нагрузок на сеть.</a:t>
            </a:r>
            <a:endParaRPr lang="en-US" sz="720" dirty="0"/>
          </a:p>
        </p:txBody>
      </p:sp>
      <p:sp>
        <p:nvSpPr>
          <p:cNvPr id="26" name="Text 23"/>
          <p:cNvSpPr txBox="1"/>
          <p:nvPr/>
        </p:nvSpPr>
        <p:spPr>
          <a:xfrm>
            <a:off x="7034919" y="4160777"/>
            <a:ext cx="1349954" cy="49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72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Edge AI</a:t>
            </a:r>
            <a:r>
              <a:rPr lang="en-US" sz="72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— периферийная обработка данных прямо на устройстве для мгновенных оповещений.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383418"/>
            <a:ext cx="6615358" cy="70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Архитектура платформы:</a:t>
            </a:r>
            <a:endParaRPr lang="en-US" sz="237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 сбора данных до устранения дефекта</a:t>
            </a:r>
            <a:endParaRPr lang="en-US" sz="2370" dirty="0"/>
          </a:p>
        </p:txBody>
      </p:sp>
      <p:sp>
        <p:nvSpPr>
          <p:cNvPr id="4" name="Text 1"/>
          <p:cNvSpPr txBox="1"/>
          <p:nvPr/>
        </p:nvSpPr>
        <p:spPr>
          <a:xfrm>
            <a:off x="534553" y="1394691"/>
            <a:ext cx="191263" cy="16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0"/>
              </a:lnSpc>
              <a:buNone/>
            </a:pPr>
            <a:r>
              <a:rPr lang="en-US" sz="1080" dirty="0">
                <a:solidFill>
                  <a:srgbClr val="5BB8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01</a:t>
            </a:r>
            <a:endParaRPr lang="en-US" sz="1080" dirty="0"/>
          </a:p>
        </p:txBody>
      </p:sp>
      <p:sp>
        <p:nvSpPr>
          <p:cNvPr id="5" name="Text 2"/>
          <p:cNvSpPr txBox="1"/>
          <p:nvPr/>
        </p:nvSpPr>
        <p:spPr>
          <a:xfrm>
            <a:off x="534553" y="1603706"/>
            <a:ext cx="953706" cy="15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40" b="1" kern="0" spc="-1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Сбор данных</a:t>
            </a:r>
            <a:endParaRPr lang="en-US" sz="1040" dirty="0"/>
          </a:p>
        </p:txBody>
      </p:sp>
      <p:sp>
        <p:nvSpPr>
          <p:cNvPr id="6" name="Text 3"/>
          <p:cNvSpPr txBox="1"/>
          <p:nvPr/>
        </p:nvSpPr>
        <p:spPr>
          <a:xfrm>
            <a:off x="534553" y="1808931"/>
            <a:ext cx="118123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30" b="1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Автономные дроны.</a:t>
            </a:r>
            <a:endParaRPr lang="en-US" sz="830" dirty="0"/>
          </a:p>
        </p:txBody>
      </p:sp>
      <p:sp>
        <p:nvSpPr>
          <p:cNvPr id="7" name="Text 4"/>
          <p:cNvSpPr txBox="1"/>
          <p:nvPr/>
        </p:nvSpPr>
        <p:spPr>
          <a:xfrm>
            <a:off x="534553" y="1962056"/>
            <a:ext cx="1246426" cy="53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Полёты по заданным маршрутам, фото/видео, ИК-камеры, LiDAR и сенсоры.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2225390" y="1394691"/>
            <a:ext cx="213862" cy="16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0"/>
              </a:lnSpc>
              <a:buNone/>
            </a:pPr>
            <a:r>
              <a:rPr lang="en-US" sz="1080" dirty="0">
                <a:solidFill>
                  <a:srgbClr val="5BB8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02</a:t>
            </a:r>
            <a:endParaRPr lang="en-US" sz="1080" dirty="0"/>
          </a:p>
        </p:txBody>
      </p:sp>
      <p:sp>
        <p:nvSpPr>
          <p:cNvPr id="9" name="Text 6"/>
          <p:cNvSpPr txBox="1"/>
          <p:nvPr/>
        </p:nvSpPr>
        <p:spPr>
          <a:xfrm>
            <a:off x="2225390" y="1603706"/>
            <a:ext cx="1291623" cy="15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40" b="1" kern="0" spc="-1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Передача данных</a:t>
            </a:r>
            <a:endParaRPr lang="en-US" sz="1040" dirty="0"/>
          </a:p>
        </p:txBody>
      </p:sp>
      <p:sp>
        <p:nvSpPr>
          <p:cNvPr id="10" name="Text 7"/>
          <p:cNvSpPr txBox="1"/>
          <p:nvPr/>
        </p:nvSpPr>
        <p:spPr>
          <a:xfrm>
            <a:off x="2225390" y="1808931"/>
            <a:ext cx="120749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30" b="1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Онлайн-интеграция.</a:t>
            </a:r>
            <a:endParaRPr lang="en-US" sz="830" dirty="0"/>
          </a:p>
        </p:txBody>
      </p:sp>
      <p:sp>
        <p:nvSpPr>
          <p:cNvPr id="11" name="Text 8"/>
          <p:cNvSpPr txBox="1"/>
          <p:nvPr/>
        </p:nvSpPr>
        <p:spPr>
          <a:xfrm>
            <a:off x="2225390" y="1962056"/>
            <a:ext cx="1338596" cy="53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Бесшовная передача телеметрии и медиа через сети 4G/5G в единую систему.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3916226" y="1394691"/>
            <a:ext cx="215400" cy="16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0"/>
              </a:lnSpc>
              <a:buNone/>
            </a:pPr>
            <a:r>
              <a:rPr lang="en-US" sz="1080" dirty="0">
                <a:solidFill>
                  <a:srgbClr val="5BB8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03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916226" y="1603706"/>
            <a:ext cx="756706" cy="15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40" b="1" kern="0" spc="-1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AI-Анализ</a:t>
            </a:r>
            <a:endParaRPr lang="en-US" sz="1040" dirty="0"/>
          </a:p>
        </p:txBody>
      </p:sp>
      <p:sp>
        <p:nvSpPr>
          <p:cNvPr id="14" name="Text 11"/>
          <p:cNvSpPr txBox="1"/>
          <p:nvPr/>
        </p:nvSpPr>
        <p:spPr>
          <a:xfrm>
            <a:off x="3916226" y="1808931"/>
            <a:ext cx="97677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30" b="1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Computer Vision.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3916226" y="1962056"/>
            <a:ext cx="1317654" cy="53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Авто-распознавание дефектов (коррозия, обрывы, перегрев) с точностью моделей 90%+.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5607062" y="1394691"/>
            <a:ext cx="218594" cy="16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0"/>
              </a:lnSpc>
              <a:buNone/>
            </a:pPr>
            <a:r>
              <a:rPr lang="en-US" sz="1080" dirty="0">
                <a:solidFill>
                  <a:srgbClr val="5BB8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04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5607062" y="1603706"/>
            <a:ext cx="1049071" cy="15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40" b="1" kern="0" spc="-1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Визуализация</a:t>
            </a:r>
            <a:endParaRPr lang="en-US" sz="1040" dirty="0"/>
          </a:p>
        </p:txBody>
      </p:sp>
      <p:sp>
        <p:nvSpPr>
          <p:cNvPr id="18" name="Text 15"/>
          <p:cNvSpPr txBox="1"/>
          <p:nvPr/>
        </p:nvSpPr>
        <p:spPr>
          <a:xfrm>
            <a:off x="5607062" y="1808931"/>
            <a:ext cx="70642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30" b="1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Digital Twin.</a:t>
            </a:r>
            <a:endParaRPr lang="en-US" sz="830" dirty="0"/>
          </a:p>
        </p:txBody>
      </p:sp>
      <p:sp>
        <p:nvSpPr>
          <p:cNvPr id="19" name="Text 16"/>
          <p:cNvSpPr txBox="1"/>
          <p:nvPr/>
        </p:nvSpPr>
        <p:spPr>
          <a:xfrm>
            <a:off x="5607062" y="1962056"/>
            <a:ext cx="1396335" cy="53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Построение точных 2D/3D моделей, создание цифрового двойника сети и аналитика.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7297899" y="1394691"/>
            <a:ext cx="213980" cy="16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0"/>
              </a:lnSpc>
              <a:buNone/>
            </a:pPr>
            <a:r>
              <a:rPr lang="en-US" sz="1080" dirty="0">
                <a:solidFill>
                  <a:srgbClr val="5BB8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05</a:t>
            </a:r>
            <a:endParaRPr lang="en-US" sz="1080" dirty="0"/>
          </a:p>
        </p:txBody>
      </p:sp>
      <p:sp>
        <p:nvSpPr>
          <p:cNvPr id="21" name="Text 18"/>
          <p:cNvSpPr txBox="1"/>
          <p:nvPr/>
        </p:nvSpPr>
        <p:spPr>
          <a:xfrm>
            <a:off x="7297899" y="1603706"/>
            <a:ext cx="1222289" cy="15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40" b="1" kern="0" spc="-1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O&amp;M Управление</a:t>
            </a:r>
            <a:endParaRPr lang="en-US" sz="1040" dirty="0"/>
          </a:p>
        </p:txBody>
      </p:sp>
      <p:sp>
        <p:nvSpPr>
          <p:cNvPr id="22" name="Text 19"/>
          <p:cNvSpPr txBox="1"/>
          <p:nvPr/>
        </p:nvSpPr>
        <p:spPr>
          <a:xfrm>
            <a:off x="7297899" y="1808931"/>
            <a:ext cx="86828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30" b="1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Реагирование.</a:t>
            </a:r>
            <a:endParaRPr lang="en-US" sz="830" dirty="0"/>
          </a:p>
        </p:txBody>
      </p:sp>
      <p:sp>
        <p:nvSpPr>
          <p:cNvPr id="23" name="Text 20"/>
          <p:cNvSpPr txBox="1"/>
          <p:nvPr/>
        </p:nvSpPr>
        <p:spPr>
          <a:xfrm>
            <a:off x="7297899" y="1962056"/>
            <a:ext cx="1407575" cy="53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Генерация алертов, автоматическое назначение задач бригадам и контроль выполнения.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2575288" y="4548730"/>
            <a:ext cx="3993423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Закрытый цикл управления: всё в едином цифровом контуре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383418"/>
            <a:ext cx="4857147" cy="70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Полёты по ЛЭП:</a:t>
            </a:r>
            <a:endParaRPr lang="en-US" sz="237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Интеллектуальная навигация</a:t>
            </a:r>
            <a:endParaRPr lang="en-US" sz="2370" dirty="0"/>
          </a:p>
        </p:txBody>
      </p:sp>
      <p:sp>
        <p:nvSpPr>
          <p:cNvPr id="4" name="Text 1"/>
          <p:cNvSpPr txBox="1"/>
          <p:nvPr/>
        </p:nvSpPr>
        <p:spPr>
          <a:xfrm>
            <a:off x="660350" y="1456049"/>
            <a:ext cx="234567" cy="208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7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01</a:t>
            </a:r>
            <a:endParaRPr lang="en-US" sz="1370" dirty="0"/>
          </a:p>
        </p:txBody>
      </p:sp>
      <p:sp>
        <p:nvSpPr>
          <p:cNvPr id="5" name="Text 2"/>
          <p:cNvSpPr txBox="1"/>
          <p:nvPr/>
        </p:nvSpPr>
        <p:spPr>
          <a:xfrm>
            <a:off x="534553" y="1814343"/>
            <a:ext cx="1101486" cy="29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6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Полёт вдоль линий (imitation flight)</a:t>
            </a:r>
            <a:endParaRPr lang="en-US" sz="860" dirty="0"/>
          </a:p>
        </p:txBody>
      </p:sp>
      <p:sp>
        <p:nvSpPr>
          <p:cNvPr id="6" name="Text 3"/>
          <p:cNvSpPr txBox="1"/>
          <p:nvPr/>
        </p:nvSpPr>
        <p:spPr>
          <a:xfrm>
            <a:off x="2556011" y="1456049"/>
            <a:ext cx="263200" cy="208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7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02</a:t>
            </a:r>
            <a:endParaRPr lang="en-US" sz="1370" dirty="0"/>
          </a:p>
        </p:txBody>
      </p:sp>
      <p:sp>
        <p:nvSpPr>
          <p:cNvPr id="7" name="Text 4"/>
          <p:cNvSpPr txBox="1"/>
          <p:nvPr/>
        </p:nvSpPr>
        <p:spPr>
          <a:xfrm>
            <a:off x="2430214" y="1814343"/>
            <a:ext cx="1538317" cy="29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6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Автоматическое определение направления</a:t>
            </a:r>
            <a:endParaRPr lang="en-US" sz="860" dirty="0"/>
          </a:p>
        </p:txBody>
      </p:sp>
      <p:sp>
        <p:nvSpPr>
          <p:cNvPr id="8" name="Text 5"/>
          <p:cNvSpPr txBox="1"/>
          <p:nvPr/>
        </p:nvSpPr>
        <p:spPr>
          <a:xfrm>
            <a:off x="660350" y="2589896"/>
            <a:ext cx="265212" cy="208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7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03</a:t>
            </a:r>
            <a:endParaRPr lang="en-US" sz="1370" dirty="0"/>
          </a:p>
        </p:txBody>
      </p:sp>
      <p:sp>
        <p:nvSpPr>
          <p:cNvPr id="9" name="Text 6"/>
          <p:cNvSpPr txBox="1"/>
          <p:nvPr/>
        </p:nvSpPr>
        <p:spPr>
          <a:xfrm>
            <a:off x="534553" y="2948190"/>
            <a:ext cx="1362733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6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Построение маршрутов</a:t>
            </a:r>
            <a:endParaRPr lang="en-US" sz="860" dirty="0"/>
          </a:p>
        </p:txBody>
      </p:sp>
      <p:sp>
        <p:nvSpPr>
          <p:cNvPr id="10" name="Text 7"/>
          <p:cNvSpPr txBox="1"/>
          <p:nvPr/>
        </p:nvSpPr>
        <p:spPr>
          <a:xfrm>
            <a:off x="2556011" y="2589896"/>
            <a:ext cx="269353" cy="208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0"/>
              </a:lnSpc>
              <a:buNone/>
            </a:pPr>
            <a:r>
              <a:rPr lang="en-US" sz="137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04</a:t>
            </a:r>
            <a:endParaRPr lang="en-US" sz="1370" dirty="0"/>
          </a:p>
        </p:txBody>
      </p:sp>
      <p:sp>
        <p:nvSpPr>
          <p:cNvPr id="11" name="Text 8"/>
          <p:cNvSpPr txBox="1"/>
          <p:nvPr/>
        </p:nvSpPr>
        <p:spPr>
          <a:xfrm>
            <a:off x="2430214" y="2948190"/>
            <a:ext cx="1239090" cy="29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6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Обход пересечений и препятствий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554757" y="3618591"/>
            <a:ext cx="2455048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Дрон сам «понимает» структуру сети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383418"/>
            <a:ext cx="3907997" cy="70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Данные и аналитика:</a:t>
            </a:r>
            <a:endParaRPr lang="en-US" sz="237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Data-driven управление</a:t>
            </a:r>
            <a:endParaRPr lang="en-US" sz="2370" dirty="0"/>
          </a:p>
        </p:txBody>
      </p:sp>
      <p:sp>
        <p:nvSpPr>
          <p:cNvPr id="4" name="Text 1"/>
          <p:cNvSpPr txBox="1"/>
          <p:nvPr/>
        </p:nvSpPr>
        <p:spPr>
          <a:xfrm>
            <a:off x="846869" y="1963027"/>
            <a:ext cx="2295555" cy="1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Привязка фото к координатам</a:t>
            </a:r>
            <a:endParaRPr lang="en-US" sz="1080" dirty="0"/>
          </a:p>
        </p:txBody>
      </p:sp>
      <p:sp>
        <p:nvSpPr>
          <p:cNvPr id="5" name="Text 2"/>
          <p:cNvSpPr txBox="1"/>
          <p:nvPr/>
        </p:nvSpPr>
        <p:spPr>
          <a:xfrm>
            <a:off x="846869" y="2455946"/>
            <a:ext cx="1928768" cy="1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Онлайн передача данных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846869" y="2948865"/>
            <a:ext cx="1515127" cy="1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История инспекций</a:t>
            </a:r>
            <a:endParaRPr lang="en-US" sz="1080" dirty="0"/>
          </a:p>
        </p:txBody>
      </p:sp>
      <p:sp>
        <p:nvSpPr>
          <p:cNvPr id="7" name="Text 4"/>
          <p:cNvSpPr txBox="1"/>
          <p:nvPr/>
        </p:nvSpPr>
        <p:spPr>
          <a:xfrm>
            <a:off x="846869" y="3441784"/>
            <a:ext cx="2681154" cy="1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Контроль состояния каждой опоры</a:t>
            </a:r>
            <a:endParaRPr lang="en-US" sz="1080" dirty="0"/>
          </a:p>
        </p:txBody>
      </p:sp>
      <p:sp>
        <p:nvSpPr>
          <p:cNvPr id="8" name="Text 5"/>
          <p:cNvSpPr txBox="1"/>
          <p:nvPr/>
        </p:nvSpPr>
        <p:spPr>
          <a:xfrm>
            <a:off x="3550350" y="4548783"/>
            <a:ext cx="2043300" cy="1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Полный </a:t>
            </a:r>
            <a:r>
              <a:rPr lang="en-US" sz="930" b="1" dirty="0">
                <a:solidFill>
                  <a:srgbClr val="1889D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цифровой реестр ЛЭП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225889"/>
            <a:ext cx="1584461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50" kern="0" spc="5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DIGITAL GRID / BLUEPRINT UI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408756" y="547725"/>
            <a:ext cx="4694223" cy="70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Управление задачами (O&amp;M):</a:t>
            </a:r>
            <a:endParaRPr lang="en-US" sz="237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 дефекта к задаче</a:t>
            </a:r>
            <a:endParaRPr lang="en-US" sz="2370" dirty="0"/>
          </a:p>
        </p:txBody>
      </p:sp>
      <p:sp>
        <p:nvSpPr>
          <p:cNvPr id="5" name="Text 2"/>
          <p:cNvSpPr txBox="1"/>
          <p:nvPr/>
        </p:nvSpPr>
        <p:spPr>
          <a:xfrm>
            <a:off x="1062301" y="4010493"/>
            <a:ext cx="1270799" cy="356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Автоматическое</a:t>
            </a:r>
            <a:endParaRPr lang="en-US" sz="108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создание задач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3096258" y="2757488"/>
            <a:ext cx="110333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3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›</a:t>
            </a:r>
            <a:endParaRPr lang="en-US" sz="1730" dirty="0"/>
          </a:p>
        </p:txBody>
      </p:sp>
      <p:sp>
        <p:nvSpPr>
          <p:cNvPr id="7" name="Text 4"/>
          <p:cNvSpPr txBox="1"/>
          <p:nvPr/>
        </p:nvSpPr>
        <p:spPr>
          <a:xfrm>
            <a:off x="3967899" y="4010493"/>
            <a:ext cx="1208091" cy="356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Приоритизация</a:t>
            </a:r>
            <a:endParaRPr lang="en-US" sz="108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дефектов</a:t>
            </a:r>
            <a:endParaRPr lang="en-US" sz="1080" dirty="0"/>
          </a:p>
        </p:txBody>
      </p:sp>
      <p:sp>
        <p:nvSpPr>
          <p:cNvPr id="8" name="Text 5"/>
          <p:cNvSpPr txBox="1"/>
          <p:nvPr/>
        </p:nvSpPr>
        <p:spPr>
          <a:xfrm>
            <a:off x="5970501" y="2757488"/>
            <a:ext cx="110333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3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›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6542205" y="4010493"/>
            <a:ext cx="1807965" cy="356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Назначение бригад</a:t>
            </a:r>
            <a:endParaRPr lang="en-US" sz="108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 контроль выполнения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2707572" y="4555873"/>
            <a:ext cx="3728745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Закрытый цикл: инспекция → анализ → задача → ремонт</a:t>
            </a:r>
            <a:endParaRPr lang="en-US" sz="9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383418"/>
            <a:ext cx="605949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Технологии: Ключевые возможности</a:t>
            </a:r>
            <a:endParaRPr lang="en-US" sz="2370" dirty="0"/>
          </a:p>
        </p:txBody>
      </p:sp>
      <p:sp>
        <p:nvSpPr>
          <p:cNvPr id="4" name="Text 1"/>
          <p:cNvSpPr txBox="1"/>
          <p:nvPr/>
        </p:nvSpPr>
        <p:spPr>
          <a:xfrm>
            <a:off x="541697" y="2087680"/>
            <a:ext cx="1857895" cy="3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7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Обнаружение препятствий (деревья, здания)</a:t>
            </a:r>
            <a:endParaRPr lang="en-US" sz="970" dirty="0"/>
          </a:p>
        </p:txBody>
      </p:sp>
      <p:sp>
        <p:nvSpPr>
          <p:cNvPr id="5" name="Text 2"/>
          <p:cNvSpPr txBox="1"/>
          <p:nvPr/>
        </p:nvSpPr>
        <p:spPr>
          <a:xfrm>
            <a:off x="541697" y="2842127"/>
            <a:ext cx="1675803" cy="3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7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Реальное расстояние до объектов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6869832" y="2167824"/>
            <a:ext cx="1416094" cy="3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7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Улучшение качества изображений</a:t>
            </a:r>
            <a:endParaRPr lang="en-US" sz="970" dirty="0"/>
          </a:p>
        </p:txBody>
      </p:sp>
      <p:sp>
        <p:nvSpPr>
          <p:cNvPr id="7" name="Text 4"/>
          <p:cNvSpPr txBox="1"/>
          <p:nvPr/>
        </p:nvSpPr>
        <p:spPr>
          <a:xfrm>
            <a:off x="6869832" y="2922271"/>
            <a:ext cx="1727745" cy="160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7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AI-коррекция освещения</a:t>
            </a:r>
            <a:endParaRPr lang="en-US" sz="970" dirty="0"/>
          </a:p>
        </p:txBody>
      </p:sp>
      <p:sp>
        <p:nvSpPr>
          <p:cNvPr id="8" name="Text 5"/>
          <p:cNvSpPr txBox="1"/>
          <p:nvPr/>
        </p:nvSpPr>
        <p:spPr>
          <a:xfrm>
            <a:off x="3093526" y="4555873"/>
            <a:ext cx="2956836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Высокая точность даже в сложных условиях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383418"/>
            <a:ext cx="6084819" cy="70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AI-Диагностика: Выявляемые угрозы</a:t>
            </a:r>
            <a:endParaRPr lang="en-US" sz="237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 решаемые проблемы</a:t>
            </a:r>
            <a:endParaRPr lang="en-US" sz="2370" dirty="0"/>
          </a:p>
        </p:txBody>
      </p:sp>
      <p:sp>
        <p:nvSpPr>
          <p:cNvPr id="4" name="Text 1"/>
          <p:cNvSpPr txBox="1"/>
          <p:nvPr/>
        </p:nvSpPr>
        <p:spPr>
          <a:xfrm>
            <a:off x="811173" y="1291733"/>
            <a:ext cx="1644804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60"/>
              </a:lnSpc>
              <a:buNone/>
            </a:pPr>
            <a:r>
              <a:rPr lang="en-US" sz="97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Устраняемые проблемы</a:t>
            </a:r>
            <a:endParaRPr lang="en-US" sz="970" dirty="0"/>
          </a:p>
        </p:txBody>
      </p:sp>
      <p:sp>
        <p:nvSpPr>
          <p:cNvPr id="5" name="Text 2"/>
          <p:cNvSpPr txBox="1"/>
          <p:nvPr/>
        </p:nvSpPr>
        <p:spPr>
          <a:xfrm>
            <a:off x="523391" y="1706910"/>
            <a:ext cx="11428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Риски персонала</a:t>
            </a:r>
            <a:endParaRPr lang="en-US" sz="930" dirty="0"/>
          </a:p>
        </p:txBody>
      </p:sp>
      <p:sp>
        <p:nvSpPr>
          <p:cNvPr id="6" name="Text 3"/>
          <p:cNvSpPr txBox="1"/>
          <p:nvPr/>
        </p:nvSpPr>
        <p:spPr>
          <a:xfrm>
            <a:off x="523391" y="1874322"/>
            <a:ext cx="2381691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Работа на высоте, под напряжением, в опасных зонах.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523391" y="2657252"/>
            <a:ext cx="10294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Сложная среда</a:t>
            </a:r>
            <a:endParaRPr lang="en-US" sz="930" dirty="0"/>
          </a:p>
        </p:txBody>
      </p:sp>
      <p:sp>
        <p:nvSpPr>
          <p:cNvPr id="8" name="Text 5"/>
          <p:cNvSpPr txBox="1"/>
          <p:nvPr/>
        </p:nvSpPr>
        <p:spPr>
          <a:xfrm>
            <a:off x="523391" y="2824664"/>
            <a:ext cx="2202793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Огромная протяженность, горы, снег, ветер, жара.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523391" y="3607594"/>
            <a:ext cx="885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Слепые зоны</a:t>
            </a:r>
            <a:endParaRPr lang="en-US" sz="930" dirty="0"/>
          </a:p>
        </p:txBody>
      </p:sp>
      <p:sp>
        <p:nvSpPr>
          <p:cNvPr id="10" name="Text 7"/>
          <p:cNvSpPr txBox="1"/>
          <p:nvPr/>
        </p:nvSpPr>
        <p:spPr>
          <a:xfrm>
            <a:off x="523391" y="3775006"/>
            <a:ext cx="2382164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Отсутствие мониторинга в реальном времени и единой картины состояния сети.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6742220" y="1291733"/>
            <a:ext cx="1536188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60"/>
              </a:lnSpc>
              <a:buNone/>
            </a:pPr>
            <a:r>
              <a:rPr lang="en-US" sz="97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Выявляемые дефекты</a:t>
            </a:r>
            <a:endParaRPr lang="en-US" sz="970" dirty="0"/>
          </a:p>
        </p:txBody>
      </p:sp>
      <p:sp>
        <p:nvSpPr>
          <p:cNvPr id="12" name="Text 9"/>
          <p:cNvSpPr txBox="1"/>
          <p:nvPr/>
        </p:nvSpPr>
        <p:spPr>
          <a:xfrm>
            <a:off x="6400130" y="1706910"/>
            <a:ext cx="1441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Аппаратные дефекты</a:t>
            </a:r>
            <a:endParaRPr lang="en-US" sz="930" dirty="0"/>
          </a:p>
        </p:txBody>
      </p:sp>
      <p:sp>
        <p:nvSpPr>
          <p:cNvPr id="13" name="Text 10"/>
          <p:cNvSpPr txBox="1"/>
          <p:nvPr/>
        </p:nvSpPr>
        <p:spPr>
          <a:xfrm>
            <a:off x="6400130" y="1874322"/>
            <a:ext cx="2223617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Коррозия, обрывы проводов, разрушение/трещины изоляторов, перегрев соединений.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6400130" y="2657252"/>
            <a:ext cx="1100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Внешние угрозы</a:t>
            </a:r>
            <a:endParaRPr lang="en-US" sz="930" dirty="0"/>
          </a:p>
        </p:txBody>
      </p:sp>
      <p:sp>
        <p:nvSpPr>
          <p:cNvPr id="15" name="Text 12"/>
          <p:cNvSpPr txBox="1"/>
          <p:nvPr/>
        </p:nvSpPr>
        <p:spPr>
          <a:xfrm>
            <a:off x="6400130" y="2824664"/>
            <a:ext cx="2270353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Посторонние объекты на линиях, незаконное строительство в охранной зоне ЛЭП.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6400130" y="3607594"/>
            <a:ext cx="6340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Экология</a:t>
            </a:r>
            <a:endParaRPr lang="en-US" sz="930" dirty="0"/>
          </a:p>
        </p:txBody>
      </p:sp>
      <p:sp>
        <p:nvSpPr>
          <p:cNvPr id="17" name="Text 14"/>
          <p:cNvSpPr txBox="1"/>
          <p:nvPr/>
        </p:nvSpPr>
        <p:spPr>
          <a:xfrm>
            <a:off x="6400130" y="3775006"/>
            <a:ext cx="2299341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Надвигающаяся растительность, гнёзда птиц, последствия лесных пожаров.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1805631" y="4541639"/>
            <a:ext cx="5532627" cy="1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F6E3C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 </a:t>
            </a:r>
            <a:r>
              <a:rPr lang="en-US" sz="930" b="1" dirty="0">
                <a:solidFill>
                  <a:srgbClr val="1889D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80%</a:t>
            </a:r>
            <a:r>
              <a:rPr lang="en-US" sz="930" b="1" dirty="0">
                <a:solidFill>
                  <a:srgbClr val="F6E3C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элементов сети классифицируются платформой полностью автоматически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225889"/>
            <a:ext cx="1584461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50" kern="0" spc="5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DIGITAL GRID / BLUEPRINT UI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408756" y="547725"/>
            <a:ext cx="3731821" cy="70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Масштабируемость:</a:t>
            </a:r>
            <a:endParaRPr lang="en-US" sz="237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 пилота до всей сети</a:t>
            </a:r>
            <a:endParaRPr lang="en-US" sz="2370" dirty="0"/>
          </a:p>
        </p:txBody>
      </p:sp>
      <p:sp>
        <p:nvSpPr>
          <p:cNvPr id="5" name="Text 2"/>
          <p:cNvSpPr txBox="1"/>
          <p:nvPr/>
        </p:nvSpPr>
        <p:spPr>
          <a:xfrm>
            <a:off x="552748" y="2215468"/>
            <a:ext cx="2638796" cy="17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04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Быстрое подключение новых линий</a:t>
            </a:r>
            <a:endParaRPr lang="en-US" sz="1040" dirty="0"/>
          </a:p>
        </p:txBody>
      </p:sp>
      <p:sp>
        <p:nvSpPr>
          <p:cNvPr id="6" name="Text 3"/>
          <p:cNvSpPr txBox="1"/>
          <p:nvPr/>
        </p:nvSpPr>
        <p:spPr>
          <a:xfrm>
            <a:off x="552748" y="2785070"/>
            <a:ext cx="2307150" cy="17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04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Централизованное управление</a:t>
            </a:r>
            <a:endParaRPr lang="en-US" sz="1040" dirty="0"/>
          </a:p>
        </p:txBody>
      </p:sp>
      <p:sp>
        <p:nvSpPr>
          <p:cNvPr id="7" name="Text 4"/>
          <p:cNvSpPr txBox="1"/>
          <p:nvPr/>
        </p:nvSpPr>
        <p:spPr>
          <a:xfrm>
            <a:off x="552748" y="3354673"/>
            <a:ext cx="2582713" cy="17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04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Поддержка тысяч километров ЛЭП</a:t>
            </a:r>
            <a:endParaRPr lang="en-US" sz="1040" dirty="0"/>
          </a:p>
        </p:txBody>
      </p:sp>
      <p:sp>
        <p:nvSpPr>
          <p:cNvPr id="8" name="Text 5"/>
          <p:cNvSpPr txBox="1"/>
          <p:nvPr/>
        </p:nvSpPr>
        <p:spPr>
          <a:xfrm>
            <a:off x="554757" y="3853442"/>
            <a:ext cx="2514207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Уже используется на сотнях объектов</a:t>
            </a:r>
            <a:endParaRPr lang="en-US" sz="9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383418"/>
            <a:ext cx="5352073" cy="70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Бизнес-эффект: Трансформация</a:t>
            </a:r>
            <a:endParaRPr lang="en-US" sz="237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370" b="1" kern="0" spc="-2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операционной модели</a:t>
            </a:r>
            <a:endParaRPr lang="en-US" sz="2370" dirty="0"/>
          </a:p>
        </p:txBody>
      </p:sp>
      <p:sp>
        <p:nvSpPr>
          <p:cNvPr id="4" name="Text 1"/>
          <p:cNvSpPr txBox="1"/>
          <p:nvPr/>
        </p:nvSpPr>
        <p:spPr>
          <a:xfrm>
            <a:off x="499951" y="1500411"/>
            <a:ext cx="15063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Традиционный подход</a:t>
            </a:r>
            <a:endParaRPr lang="en-US" sz="930" dirty="0"/>
          </a:p>
        </p:txBody>
      </p:sp>
      <p:sp>
        <p:nvSpPr>
          <p:cNvPr id="5" name="Text 2"/>
          <p:cNvSpPr txBox="1"/>
          <p:nvPr/>
        </p:nvSpPr>
        <p:spPr>
          <a:xfrm>
            <a:off x="2753246" y="1500411"/>
            <a:ext cx="766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Платформа</a:t>
            </a:r>
            <a:endParaRPr lang="en-US" sz="930" dirty="0"/>
          </a:p>
        </p:txBody>
      </p:sp>
      <p:sp>
        <p:nvSpPr>
          <p:cNvPr id="6" name="Text 3"/>
          <p:cNvSpPr txBox="1"/>
          <p:nvPr/>
        </p:nvSpPr>
        <p:spPr>
          <a:xfrm>
            <a:off x="499951" y="2206975"/>
            <a:ext cx="1883452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6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Высокие операционные расходы</a:t>
            </a:r>
            <a:endParaRPr lang="en-US" sz="860" dirty="0"/>
          </a:p>
        </p:txBody>
      </p:sp>
      <p:sp>
        <p:nvSpPr>
          <p:cNvPr id="7" name="Text 4"/>
          <p:cNvSpPr txBox="1"/>
          <p:nvPr/>
        </p:nvSpPr>
        <p:spPr>
          <a:xfrm>
            <a:off x="2753246" y="2206975"/>
            <a:ext cx="1247727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↓ до 60% O&amp;M затрат</a:t>
            </a:r>
            <a:endParaRPr lang="en-US" sz="860" dirty="0"/>
          </a:p>
        </p:txBody>
      </p:sp>
      <p:sp>
        <p:nvSpPr>
          <p:cNvPr id="8" name="Text 5"/>
          <p:cNvSpPr txBox="1"/>
          <p:nvPr/>
        </p:nvSpPr>
        <p:spPr>
          <a:xfrm>
            <a:off x="499951" y="2912643"/>
            <a:ext cx="1380007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6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Недели ручных обходов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2753246" y="2912643"/>
            <a:ext cx="1838136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↑ Скорость инспекций в 10 раз</a:t>
            </a:r>
            <a:endParaRPr lang="en-US" sz="860" dirty="0"/>
          </a:p>
        </p:txBody>
      </p:sp>
      <p:sp>
        <p:nvSpPr>
          <p:cNvPr id="10" name="Text 7"/>
          <p:cNvSpPr txBox="1"/>
          <p:nvPr/>
        </p:nvSpPr>
        <p:spPr>
          <a:xfrm>
            <a:off x="499951" y="3615968"/>
            <a:ext cx="2001770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6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Зависит от человеческого фактора</a:t>
            </a:r>
            <a:endParaRPr lang="en-US" sz="860" dirty="0"/>
          </a:p>
        </p:txBody>
      </p:sp>
      <p:sp>
        <p:nvSpPr>
          <p:cNvPr id="11" name="Text 8"/>
          <p:cNvSpPr txBox="1"/>
          <p:nvPr/>
        </p:nvSpPr>
        <p:spPr>
          <a:xfrm>
            <a:off x="2753246" y="3615968"/>
            <a:ext cx="1252223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↑ Точность AI до 95%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499951" y="4319404"/>
            <a:ext cx="1739104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6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Высокие риски для персонала</a:t>
            </a:r>
            <a:endParaRPr lang="en-US" sz="860" dirty="0"/>
          </a:p>
        </p:txBody>
      </p:sp>
      <p:sp>
        <p:nvSpPr>
          <p:cNvPr id="13" name="Text 10"/>
          <p:cNvSpPr txBox="1"/>
          <p:nvPr/>
        </p:nvSpPr>
        <p:spPr>
          <a:xfrm>
            <a:off x="2753246" y="4319404"/>
            <a:ext cx="1218266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 рисков для людей</a:t>
            </a:r>
            <a:endParaRPr lang="en-US" sz="860" dirty="0"/>
          </a:p>
        </p:txBody>
      </p:sp>
      <p:sp>
        <p:nvSpPr>
          <p:cNvPr id="14" name="Text 11"/>
          <p:cNvSpPr txBox="1"/>
          <p:nvPr/>
        </p:nvSpPr>
        <p:spPr>
          <a:xfrm>
            <a:off x="5090145" y="1338219"/>
            <a:ext cx="887921" cy="15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1010" b="1" kern="0" spc="-1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Надежность</a:t>
            </a:r>
            <a:endParaRPr lang="en-US" sz="1010" dirty="0"/>
          </a:p>
        </p:txBody>
      </p:sp>
      <p:sp>
        <p:nvSpPr>
          <p:cNvPr id="15" name="Text 12"/>
          <p:cNvSpPr txBox="1"/>
          <p:nvPr/>
        </p:nvSpPr>
        <p:spPr>
          <a:xfrm>
            <a:off x="5090145" y="1531534"/>
            <a:ext cx="1671899" cy="4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Снижение аварийности до −40%. Раннее выявление дефектов и предотвращение инцидентов.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7039384" y="1338219"/>
            <a:ext cx="1232109" cy="15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1010" b="1" kern="0" spc="-1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Снижение затрат</a:t>
            </a:r>
            <a:endParaRPr lang="en-US" sz="1010" dirty="0"/>
          </a:p>
        </p:txBody>
      </p:sp>
      <p:sp>
        <p:nvSpPr>
          <p:cNvPr id="17" name="Text 14"/>
          <p:cNvSpPr txBox="1"/>
          <p:nvPr/>
        </p:nvSpPr>
        <p:spPr>
          <a:xfrm>
            <a:off x="7039384" y="1531534"/>
            <a:ext cx="1356462" cy="53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Отказ от дорогих ручных инспекций и вертолетов. Оптимизация численности персонала.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5090145" y="3166908"/>
            <a:ext cx="1475609" cy="15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1010" b="1" kern="0" spc="-1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Рост эффективности</a:t>
            </a:r>
            <a:endParaRPr lang="en-US" sz="1010" dirty="0"/>
          </a:p>
        </p:txBody>
      </p:sp>
      <p:sp>
        <p:nvSpPr>
          <p:cNvPr id="19" name="Text 16"/>
          <p:cNvSpPr txBox="1"/>
          <p:nvPr/>
        </p:nvSpPr>
        <p:spPr>
          <a:xfrm>
            <a:off x="5090145" y="3360222"/>
            <a:ext cx="1668704" cy="4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Охват 100–500 км линий в день. Полная автоматизация рутинных проверок.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7039384" y="3166908"/>
            <a:ext cx="1115802" cy="306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1010" b="1" kern="0" spc="-1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Прозрачность и контроль</a:t>
            </a:r>
            <a:endParaRPr lang="en-US" sz="1010" dirty="0"/>
          </a:p>
        </p:txBody>
      </p:sp>
      <p:sp>
        <p:nvSpPr>
          <p:cNvPr id="21" name="Text 18"/>
          <p:cNvSpPr txBox="1"/>
          <p:nvPr/>
        </p:nvSpPr>
        <p:spPr>
          <a:xfrm>
            <a:off x="7039384" y="3513590"/>
            <a:ext cx="1687872" cy="4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F5F6F4">
                    <a:alpha val="6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Единая платформа мониторинга. Онлайн-доступ к истории дефектов и цифровому двойнику.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8756" y="225889"/>
            <a:ext cx="728428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50" kern="0" spc="5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DIGITAL GRID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408756" y="1303623"/>
            <a:ext cx="3025461" cy="1596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Digital twin ЛЭП</a:t>
            </a:r>
            <a:endParaRPr lang="en-US" sz="28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 AI + дроны</a:t>
            </a:r>
            <a:endParaRPr lang="en-US" sz="28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= новая модель</a:t>
            </a:r>
            <a:endParaRPr lang="en-US" sz="28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управления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09563" y="3056074"/>
            <a:ext cx="124784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6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Меньше людей</a:t>
            </a:r>
            <a:endParaRPr lang="en-US" sz="1260" dirty="0"/>
          </a:p>
        </p:txBody>
      </p:sp>
      <p:sp>
        <p:nvSpPr>
          <p:cNvPr id="6" name="Text 3"/>
          <p:cNvSpPr txBox="1"/>
          <p:nvPr/>
        </p:nvSpPr>
        <p:spPr>
          <a:xfrm>
            <a:off x="609563" y="3331108"/>
            <a:ext cx="129742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6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Больше данных</a:t>
            </a:r>
            <a:endParaRPr lang="en-US" sz="1260" dirty="0"/>
          </a:p>
        </p:txBody>
      </p:sp>
      <p:sp>
        <p:nvSpPr>
          <p:cNvPr id="7" name="Text 4"/>
          <p:cNvSpPr txBox="1"/>
          <p:nvPr/>
        </p:nvSpPr>
        <p:spPr>
          <a:xfrm>
            <a:off x="609563" y="3606143"/>
            <a:ext cx="149099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6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Быстрее решения</a:t>
            </a:r>
            <a:endParaRPr lang="en-US" sz="1260" dirty="0"/>
          </a:p>
        </p:txBody>
      </p:sp>
      <p:sp>
        <p:nvSpPr>
          <p:cNvPr id="8" name="Text 5"/>
          <p:cNvSpPr txBox="1"/>
          <p:nvPr/>
        </p:nvSpPr>
        <p:spPr>
          <a:xfrm>
            <a:off x="609563" y="3881177"/>
            <a:ext cx="166065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26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Выше безопасность</a:t>
            </a:r>
            <a:endParaRPr lang="en-US" sz="12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</Words>
  <Application>Microsoft Office PowerPoint</Application>
  <PresentationFormat>Экран (16:9)</PresentationFormat>
  <Paragraphs>198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Rubik Medium</vt:lpstr>
      <vt:lpstr>Arial</vt:lpstr>
      <vt:lpstr>Rubik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UNB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инспекции к управлению ЛЭП — UNB Group</dc:title>
  <dc:subject>PptxGenJS Presentation</dc:subject>
  <dc:creator>PptxGenJS</dc:creator>
  <cp:lastModifiedBy>Amir Sh</cp:lastModifiedBy>
  <cp:revision>2</cp:revision>
  <dcterms:created xsi:type="dcterms:W3CDTF">2026-10-04T14:14:18Z</dcterms:created>
  <dcterms:modified xsi:type="dcterms:W3CDTF">2026-10-04T14:14:47Z</dcterms:modified>
</cp:coreProperties>
</file>