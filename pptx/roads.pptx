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Rubik" pitchFamily="2" charset="-79"/>
      <p:regular r:id="rId19"/>
      <p:bold r:id="rId20"/>
    </p:embeddedFont>
    <p:embeddedFont>
      <p:font typeface="Rubik Medium" pitchFamily="2" charset="-79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39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1432545"/>
            <a:ext cx="5345447" cy="1690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0"/>
              </a:lnSpc>
              <a:buNone/>
            </a:pPr>
            <a:r>
              <a:rPr lang="en-US" sz="403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Интеллектуальные</a:t>
            </a:r>
            <a:endParaRPr lang="en-US" sz="403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403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решения для</a:t>
            </a:r>
            <a:endParaRPr lang="en-US" sz="403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403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инспекции дорог</a:t>
            </a:r>
            <a:endParaRPr lang="en-US" sz="403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3218788"/>
            <a:ext cx="3851678" cy="453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0"/>
              </a:lnSpc>
              <a:buNone/>
            </a:pPr>
            <a:r>
              <a:rPr lang="en-US" sz="126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Эволюция управления инфраструктурой на базе БПЛА и ИИ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7237358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 дорожной сети требует новых подходов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2805038" y="1533004"/>
            <a:ext cx="1017243" cy="15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08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Слепые зоны</a:t>
            </a:r>
            <a:endParaRPr lang="en-US" sz="1080" dirty="0"/>
          </a:p>
        </p:txBody>
      </p:sp>
      <p:sp>
        <p:nvSpPr>
          <p:cNvPr id="5" name="Text 2"/>
          <p:cNvSpPr txBox="1"/>
          <p:nvPr/>
        </p:nvSpPr>
        <p:spPr>
          <a:xfrm>
            <a:off x="2513149" y="1813146"/>
            <a:ext cx="1535123" cy="49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Стационарные камеры не способны охватить всю протяженность дорог.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050435" y="1533004"/>
            <a:ext cx="1172714" cy="15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08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Высокие риски</a:t>
            </a:r>
            <a:endParaRPr lang="en-US" sz="1080" dirty="0"/>
          </a:p>
        </p:txBody>
      </p:sp>
      <p:sp>
        <p:nvSpPr>
          <p:cNvPr id="7" name="Text 4"/>
          <p:cNvSpPr txBox="1"/>
          <p:nvPr/>
        </p:nvSpPr>
        <p:spPr>
          <a:xfrm>
            <a:off x="6758546" y="1813146"/>
            <a:ext cx="1967458" cy="49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Опасность для жизни и здоровья персонала при ручном патрулировании полотна.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805038" y="3336913"/>
            <a:ext cx="1574759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08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Низкая эффективность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2513149" y="3774552"/>
            <a:ext cx="1902028" cy="66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Использование ручного труда и наземного транспорта критически замедляет сбор данных.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050435" y="3336913"/>
            <a:ext cx="1574759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08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Медленное реагирование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6758546" y="3774552"/>
            <a:ext cx="1674147" cy="82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Отсутствие сквозного визуального контроля задерживает реакцию на инциденты и чрезвычайные ситуации.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5882612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Эволюция инспекции:</a:t>
            </a:r>
            <a:endParaRPr lang="en-US" sz="2660" dirty="0"/>
          </a:p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переход к полной автономности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591369" y="2909292"/>
            <a:ext cx="175495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Прошлое — БПЛА 1.0</a:t>
            </a:r>
            <a:endParaRPr lang="en-US" sz="1260" dirty="0"/>
          </a:p>
        </p:txBody>
      </p:sp>
      <p:sp>
        <p:nvSpPr>
          <p:cNvPr id="5" name="Text 2"/>
          <p:cNvSpPr txBox="1"/>
          <p:nvPr/>
        </p:nvSpPr>
        <p:spPr>
          <a:xfrm>
            <a:off x="591369" y="3180242"/>
            <a:ext cx="2317917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Ручное управление. 1–2 оператора + стандартный дрон. Базовый визуальный контроль.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3397188" y="2299618"/>
            <a:ext cx="1742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Переход — БПЛА 2.0</a:t>
            </a:r>
            <a:endParaRPr lang="en-US" sz="1260" dirty="0"/>
          </a:p>
        </p:txBody>
      </p:sp>
      <p:sp>
        <p:nvSpPr>
          <p:cNvPr id="7" name="Text 4"/>
          <p:cNvSpPr txBox="1"/>
          <p:nvPr/>
        </p:nvSpPr>
        <p:spPr>
          <a:xfrm>
            <a:off x="3397188" y="2570568"/>
            <a:ext cx="2061994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Полуавтоматика. 1 оператор + дрон. Построение 3D-моделей и заранее запрограммированные маршруты.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6203119" y="1486681"/>
            <a:ext cx="2079624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Настоящее UNB Group —</a:t>
            </a:r>
            <a:endParaRPr lang="en-US" sz="1260" dirty="0"/>
          </a:p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Интеллектуальная эксплуатация</a:t>
            </a:r>
            <a:endParaRPr lang="en-US" sz="1260" dirty="0"/>
          </a:p>
        </p:txBody>
      </p:sp>
      <p:sp>
        <p:nvSpPr>
          <p:cNvPr id="9" name="Text 6"/>
          <p:cNvSpPr txBox="1"/>
          <p:nvPr/>
        </p:nvSpPr>
        <p:spPr>
          <a:xfrm>
            <a:off x="6203119" y="2140938"/>
            <a:ext cx="2446647" cy="63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F5F6F4">
                    <a:alpha val="72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Полная автономность. Сеть дронопортов + Платформа диспетчеризации + ИИ-распознавание дефектов. Исключение человеческого фактора.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16534" y="394469"/>
            <a:ext cx="5710933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Интегрированная система</a:t>
            </a:r>
            <a:endParaRPr lang="en-US" sz="2660" dirty="0"/>
          </a:p>
          <a:p>
            <a:pPr marL="0" indent="0" algn="ctr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дистанционного зондирования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596503" y="1451490"/>
            <a:ext cx="1460227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Воздушный флот</a:t>
            </a:r>
            <a:endParaRPr lang="en-US" sz="1220" dirty="0"/>
          </a:p>
        </p:txBody>
      </p:sp>
      <p:sp>
        <p:nvSpPr>
          <p:cNvPr id="5" name="Text 2"/>
          <p:cNvSpPr txBox="1"/>
          <p:nvPr/>
        </p:nvSpPr>
        <p:spPr>
          <a:xfrm>
            <a:off x="596503" y="1695609"/>
            <a:ext cx="3360893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БПЛА. Сбор визуальных данных и телеметрии в высоком разрешении.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832635" y="1451490"/>
            <a:ext cx="2587328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Автоматизированные станции</a:t>
            </a:r>
            <a:endParaRPr lang="en-US" sz="1220" dirty="0"/>
          </a:p>
        </p:txBody>
      </p:sp>
      <p:sp>
        <p:nvSpPr>
          <p:cNvPr id="7" name="Text 4"/>
          <p:cNvSpPr txBox="1"/>
          <p:nvPr/>
        </p:nvSpPr>
        <p:spPr>
          <a:xfrm>
            <a:off x="4832635" y="1695609"/>
            <a:ext cx="3577653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Дронопорты. Зарядка, укрытие и развертывание дронов без участия человека. Узел связи (Оптоволокно).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6503" y="3254394"/>
            <a:ext cx="1573221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Центр управления</a:t>
            </a:r>
            <a:endParaRPr lang="en-US" sz="1220" dirty="0"/>
          </a:p>
        </p:txBody>
      </p:sp>
      <p:sp>
        <p:nvSpPr>
          <p:cNvPr id="9" name="Text 6"/>
          <p:cNvSpPr txBox="1"/>
          <p:nvPr/>
        </p:nvSpPr>
        <p:spPr>
          <a:xfrm>
            <a:off x="596503" y="3498513"/>
            <a:ext cx="3972836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Диспетчерская. Принятие решений на основе готовой аналитики в реальном времени.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32635" y="3254394"/>
            <a:ext cx="1799209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Облачная платформа</a:t>
            </a:r>
            <a:endParaRPr lang="en-US" sz="1220" dirty="0"/>
          </a:p>
        </p:txBody>
      </p:sp>
      <p:sp>
        <p:nvSpPr>
          <p:cNvPr id="11" name="Text 8"/>
          <p:cNvSpPr txBox="1"/>
          <p:nvPr/>
        </p:nvSpPr>
        <p:spPr>
          <a:xfrm>
            <a:off x="4832635" y="3498513"/>
            <a:ext cx="3890013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ИИ-обработка больших данных и автоматическое распознавание аномалий (через 4G/5G).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40105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работает система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84805"/>
            <a:ext cx="5320009" cy="41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1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Единая интеллектуальная архитектура мониторинга дорог: от облёта до управленческого решения.</a:t>
            </a:r>
            <a:endParaRPr lang="en-US" sz="1110" dirty="0"/>
          </a:p>
        </p:txBody>
      </p:sp>
      <p:sp>
        <p:nvSpPr>
          <p:cNvPr id="5" name="Text 2"/>
          <p:cNvSpPr txBox="1"/>
          <p:nvPr/>
        </p:nvSpPr>
        <p:spPr>
          <a:xfrm>
            <a:off x="543706" y="1577014"/>
            <a:ext cx="1477975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Блок 01: Сбор данных [Edge]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44054" y="3234231"/>
            <a:ext cx="1398938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БПЛА (автополёты и док-станции)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644054" y="3577019"/>
            <a:ext cx="1655689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Камеры высокого разрешения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644054" y="3778049"/>
            <a:ext cx="924837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LiDAR и сенсоры</a:t>
            </a:r>
            <a:endParaRPr lang="en-US" sz="830" dirty="0"/>
          </a:p>
        </p:txBody>
      </p:sp>
      <p:sp>
        <p:nvSpPr>
          <p:cNvPr id="9" name="Text 6"/>
          <p:cNvSpPr txBox="1"/>
          <p:nvPr/>
        </p:nvSpPr>
        <p:spPr>
          <a:xfrm>
            <a:off x="644054" y="3979079"/>
            <a:ext cx="1617709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Геоданные и инфраструктура</a:t>
            </a:r>
            <a:endParaRPr lang="en-US" sz="830" dirty="0"/>
          </a:p>
        </p:txBody>
      </p:sp>
      <p:sp>
        <p:nvSpPr>
          <p:cNvPr id="10" name="Text 7"/>
          <p:cNvSpPr txBox="1"/>
          <p:nvPr/>
        </p:nvSpPr>
        <p:spPr>
          <a:xfrm>
            <a:off x="2657252" y="1577014"/>
            <a:ext cx="1426151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Блок 02: Управление полётами [Network]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2757599" y="3234231"/>
            <a:ext cx="1447685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Планирование маршрутов облёта</a:t>
            </a:r>
            <a:endParaRPr lang="en-US" sz="830" dirty="0"/>
          </a:p>
        </p:txBody>
      </p:sp>
      <p:sp>
        <p:nvSpPr>
          <p:cNvPr id="12" name="Text 9"/>
          <p:cNvSpPr txBox="1"/>
          <p:nvPr/>
        </p:nvSpPr>
        <p:spPr>
          <a:xfrm>
            <a:off x="2757599" y="3577019"/>
            <a:ext cx="1596530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Автоматическая сеть дронов (рои)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2757599" y="3919808"/>
            <a:ext cx="1683612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Удалённое управление (cloud-edge-device)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770797" y="1577014"/>
            <a:ext cx="1551451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Блок 03: AI-Аналитика [Core]</a:t>
            </a:r>
            <a:endParaRPr lang="en-US" sz="970" dirty="0"/>
          </a:p>
        </p:txBody>
      </p:sp>
      <p:sp>
        <p:nvSpPr>
          <p:cNvPr id="15" name="Text 12"/>
          <p:cNvSpPr txBox="1"/>
          <p:nvPr/>
        </p:nvSpPr>
        <p:spPr>
          <a:xfrm>
            <a:off x="4871145" y="3234231"/>
            <a:ext cx="1653323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Нейросетевое распознавание дефектов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4871145" y="3577019"/>
            <a:ext cx="1537489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дорожной ситуации</a:t>
            </a:r>
            <a:endParaRPr lang="en-US" sz="830" dirty="0"/>
          </a:p>
        </p:txBody>
      </p:sp>
      <p:sp>
        <p:nvSpPr>
          <p:cNvPr id="17" name="Text 14"/>
          <p:cNvSpPr txBox="1"/>
          <p:nvPr/>
        </p:nvSpPr>
        <p:spPr>
          <a:xfrm>
            <a:off x="4871145" y="3778049"/>
            <a:ext cx="1668349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Детекция событий в реальном времени</a:t>
            </a:r>
            <a:endParaRPr lang="en-US" sz="830" dirty="0"/>
          </a:p>
        </p:txBody>
      </p:sp>
      <p:sp>
        <p:nvSpPr>
          <p:cNvPr id="18" name="Text 15"/>
          <p:cNvSpPr txBox="1"/>
          <p:nvPr/>
        </p:nvSpPr>
        <p:spPr>
          <a:xfrm>
            <a:off x="6884343" y="1577014"/>
            <a:ext cx="1669296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Блок 04: Платформа и UI [Interface]</a:t>
            </a:r>
            <a:endParaRPr lang="en-US" sz="970" dirty="0"/>
          </a:p>
        </p:txBody>
      </p:sp>
      <p:sp>
        <p:nvSpPr>
          <p:cNvPr id="19" name="Text 16"/>
          <p:cNvSpPr txBox="1"/>
          <p:nvPr/>
        </p:nvSpPr>
        <p:spPr>
          <a:xfrm>
            <a:off x="6984690" y="3234231"/>
            <a:ext cx="1338951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2D/3D цифровая модель дороги</a:t>
            </a:r>
            <a:endParaRPr lang="en-US" sz="830" dirty="0"/>
          </a:p>
        </p:txBody>
      </p:sp>
      <p:sp>
        <p:nvSpPr>
          <p:cNvPr id="20" name="Text 17"/>
          <p:cNvSpPr txBox="1"/>
          <p:nvPr/>
        </p:nvSpPr>
        <p:spPr>
          <a:xfrm>
            <a:off x="6984690" y="3577019"/>
            <a:ext cx="1098883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Дашборды и отчёты</a:t>
            </a:r>
            <a:endParaRPr lang="en-US" sz="830" dirty="0"/>
          </a:p>
        </p:txBody>
      </p:sp>
      <p:sp>
        <p:nvSpPr>
          <p:cNvPr id="21" name="Text 18"/>
          <p:cNvSpPr txBox="1"/>
          <p:nvPr/>
        </p:nvSpPr>
        <p:spPr>
          <a:xfrm>
            <a:off x="6984690" y="3778049"/>
            <a:ext cx="1421182" cy="28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Система принятия управленческих решений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5758970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Специализированные БПЛА</a:t>
            </a:r>
            <a:endParaRPr lang="en-US" sz="2660" dirty="0"/>
          </a:p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комплексного мониторинга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2945984"/>
            <a:ext cx="1960004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Мультироторные БПЛА</a:t>
            </a:r>
            <a:endParaRPr lang="en-US" sz="122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3423816"/>
            <a:ext cx="1354924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Точечная инспекция.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27062" y="3595808"/>
            <a:ext cx="1792228" cy="63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Оптимальны для зависания, детального осмотра локальных участков и экстренного реагирования.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2540608" y="2945984"/>
            <a:ext cx="2016323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БПЛА самолетного типа</a:t>
            </a:r>
            <a:endParaRPr lang="en-US" sz="1220" dirty="0"/>
          </a:p>
        </p:txBody>
      </p:sp>
      <p:sp>
        <p:nvSpPr>
          <p:cNvPr id="8" name="Text 5"/>
          <p:cNvSpPr txBox="1"/>
          <p:nvPr/>
        </p:nvSpPr>
        <p:spPr>
          <a:xfrm>
            <a:off x="2540608" y="3423816"/>
            <a:ext cx="1455494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Покрытие территорий.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540608" y="3595808"/>
            <a:ext cx="2012301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Идеальны для линейного патрулирования длинных участков дорог на высокой скорости.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4654153" y="2945984"/>
            <a:ext cx="1773298" cy="37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VTOL (Вертикальный взлет)</a:t>
            </a:r>
            <a:endParaRPr lang="en-US" sz="1220" dirty="0"/>
          </a:p>
        </p:txBody>
      </p:sp>
      <p:sp>
        <p:nvSpPr>
          <p:cNvPr id="11" name="Text 8"/>
          <p:cNvSpPr txBox="1"/>
          <p:nvPr/>
        </p:nvSpPr>
        <p:spPr>
          <a:xfrm>
            <a:off x="4654153" y="3423816"/>
            <a:ext cx="1741588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Гибридная эффективность.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54153" y="3595808"/>
            <a:ext cx="1963672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Сочетают дальность полета с возможностью взлета/посадки на ограниченных площадках.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6767699" y="2945984"/>
            <a:ext cx="1873868" cy="37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Специализированные дроны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6767699" y="3423816"/>
            <a:ext cx="1448040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Сложная архитектура.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767699" y="3595808"/>
            <a:ext cx="2055605" cy="63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Оснащены защитными каркасами и уникальной оптикой для инспекции мостовых перекрытий и опор под сложными углами.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6026606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Многоуровневая сеть маршрутов</a:t>
            </a:r>
            <a:endParaRPr lang="en-US" sz="2660" dirty="0"/>
          </a:p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точная навигация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1309404"/>
            <a:ext cx="202030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828563" y="1309404"/>
            <a:ext cx="1812698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Многоуровневая сетка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8563" y="1524540"/>
            <a:ext cx="3086158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Создание цифровых маршрутов от I до V уровня для различных задач (патрулирование покрытия, инспекция мостов, экстренный вылет).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427062" y="2137410"/>
            <a:ext cx="226167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8563" y="2137410"/>
            <a:ext cx="2085303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3D-моделирование среды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8563" y="2352545"/>
            <a:ext cx="3095505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Построение высокоточных цифровых двойников дорог и прилегающих откосов для идеального позиционирования.</a:t>
            </a:r>
            <a:endParaRPr lang="en-US" sz="830" dirty="0"/>
          </a:p>
        </p:txBody>
      </p:sp>
      <p:sp>
        <p:nvSpPr>
          <p:cNvPr id="10" name="Text 7"/>
          <p:cNvSpPr txBox="1"/>
          <p:nvPr/>
        </p:nvSpPr>
        <p:spPr>
          <a:xfrm>
            <a:off x="427062" y="2965415"/>
            <a:ext cx="227823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03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28563" y="2965415"/>
            <a:ext cx="2269880" cy="17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Тестирование безопасности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8563" y="3180550"/>
            <a:ext cx="3000259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Виртуальная симуляция маршрутов и тестирование на столкновения (включая высоковольтные линии электропередач) до реального полета.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7360290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Синхронизация данных: Облако – Край – Устройство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3314477"/>
            <a:ext cx="2258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1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Бортовые вычисления (Edge)</a:t>
            </a:r>
            <a:endParaRPr lang="en-US" sz="111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3533831"/>
            <a:ext cx="2664708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Первичная обработка нейросетей (GPU/NPU) прямо на борту БПЛА для мгновенного принятия решений без ожидания ответа от сервера.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6184143" y="2910074"/>
            <a:ext cx="15984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1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Сверхбыстрая связь</a:t>
            </a:r>
            <a:endParaRPr lang="en-US" sz="1110" dirty="0"/>
          </a:p>
        </p:txBody>
      </p:sp>
      <p:sp>
        <p:nvSpPr>
          <p:cNvPr id="7" name="Text 4"/>
          <p:cNvSpPr txBox="1"/>
          <p:nvPr/>
        </p:nvSpPr>
        <p:spPr>
          <a:xfrm>
            <a:off x="6184143" y="3129428"/>
            <a:ext cx="2615014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Передача телеметрии, видеопотока высокой четкости и ИИ-метаданных без задержек через 4G/5G модуль.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6184143" y="3718768"/>
            <a:ext cx="2407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1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Трансформатор и шина данных</a:t>
            </a:r>
            <a:endParaRPr lang="en-US" sz="1110" dirty="0"/>
          </a:p>
        </p:txBody>
      </p:sp>
      <p:sp>
        <p:nvSpPr>
          <p:cNvPr id="9" name="Text 6"/>
          <p:cNvSpPr txBox="1"/>
          <p:nvPr/>
        </p:nvSpPr>
        <p:spPr>
          <a:xfrm>
            <a:off x="6184143" y="3938123"/>
            <a:ext cx="2392339" cy="44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Надежное энергообеспечение и бесшовная связь между платами вычислений и контроллером полета.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86711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Мозг системы: Нейросетевой анализ DarkNet53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2259010" y="3167370"/>
            <a:ext cx="1692131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Входное изображение (Сырое)</a:t>
            </a:r>
            <a:endParaRPr lang="en-US" sz="830" dirty="0"/>
          </a:p>
        </p:txBody>
      </p:sp>
      <p:sp>
        <p:nvSpPr>
          <p:cNvPr id="5" name="Text 2"/>
          <p:cNvSpPr txBox="1"/>
          <p:nvPr/>
        </p:nvSpPr>
        <p:spPr>
          <a:xfrm>
            <a:off x="4431916" y="2188783"/>
            <a:ext cx="325317" cy="284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87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⟶</a:t>
            </a:r>
            <a:endParaRPr lang="en-US" sz="1870" dirty="0"/>
          </a:p>
        </p:txBody>
      </p:sp>
      <p:sp>
        <p:nvSpPr>
          <p:cNvPr id="6" name="Text 3"/>
          <p:cNvSpPr txBox="1"/>
          <p:nvPr/>
        </p:nvSpPr>
        <p:spPr>
          <a:xfrm>
            <a:off x="4937781" y="3167482"/>
            <a:ext cx="2201728" cy="14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Выходное изображение (Обработанное)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552859" y="3567628"/>
            <a:ext cx="1617472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Извлечение признаков</a:t>
            </a:r>
            <a:endParaRPr lang="en-US" sz="1010" dirty="0"/>
          </a:p>
        </p:txBody>
      </p:sp>
      <p:sp>
        <p:nvSpPr>
          <p:cNvPr id="8" name="Text 5"/>
          <p:cNvSpPr txBox="1"/>
          <p:nvPr/>
        </p:nvSpPr>
        <p:spPr>
          <a:xfrm>
            <a:off x="552859" y="3756742"/>
            <a:ext cx="2567805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Глубокий анализ текстур и паттернов дорожного полотна в реальном времени.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3364818" y="3567628"/>
            <a:ext cx="1894692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Многомасштабное слияние</a:t>
            </a:r>
            <a:endParaRPr lang="en-US" sz="1010" dirty="0"/>
          </a:p>
        </p:txBody>
      </p:sp>
      <p:sp>
        <p:nvSpPr>
          <p:cNvPr id="10" name="Text 7"/>
          <p:cNvSpPr txBox="1"/>
          <p:nvPr/>
        </p:nvSpPr>
        <p:spPr>
          <a:xfrm>
            <a:off x="3364818" y="3756742"/>
            <a:ext cx="2514799" cy="42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Способность нейросети одновременно анализировать как крупные макро-объекты, так и микроскопические дефекты.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6176776" y="3567628"/>
            <a:ext cx="1554172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Адаптация к скорости</a:t>
            </a:r>
            <a:endParaRPr lang="en-US" sz="1010" dirty="0"/>
          </a:p>
        </p:txBody>
      </p:sp>
      <p:sp>
        <p:nvSpPr>
          <p:cNvPr id="12" name="Text 9"/>
          <p:cNvSpPr txBox="1"/>
          <p:nvPr/>
        </p:nvSpPr>
        <p:spPr>
          <a:xfrm>
            <a:off x="6176776" y="3756742"/>
            <a:ext cx="2441323" cy="42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Стабильное распознавание малых объектов даже при высокой скорости полета и сложных условиях освещения.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86333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Автоматическое выявление дефектов и рисков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84805"/>
            <a:ext cx="5573447" cy="41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1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AI-классификация дорожных проблем в режиме реального времени на базе видимого спектра, тепловизии и LiDAR.</a:t>
            </a:r>
            <a:endParaRPr lang="en-US" sz="1110" dirty="0"/>
          </a:p>
        </p:txBody>
      </p:sp>
      <p:sp>
        <p:nvSpPr>
          <p:cNvPr id="5" name="Text 2"/>
          <p:cNvSpPr txBox="1"/>
          <p:nvPr/>
        </p:nvSpPr>
        <p:spPr>
          <a:xfrm>
            <a:off x="525400" y="1482167"/>
            <a:ext cx="1320375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Дорожное покрытие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59891" y="2612356"/>
            <a:ext cx="499837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[Трещины]</a:t>
            </a:r>
            <a:endParaRPr lang="en-US" sz="680" dirty="0"/>
          </a:p>
        </p:txBody>
      </p:sp>
      <p:sp>
        <p:nvSpPr>
          <p:cNvPr id="7" name="Text 4"/>
          <p:cNvSpPr txBox="1"/>
          <p:nvPr/>
        </p:nvSpPr>
        <p:spPr>
          <a:xfrm>
            <a:off x="1164654" y="2612356"/>
            <a:ext cx="773507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[Ямы (питтинги)]</a:t>
            </a:r>
            <a:endParaRPr lang="en-US" sz="680" dirty="0"/>
          </a:p>
        </p:txBody>
      </p:sp>
      <p:sp>
        <p:nvSpPr>
          <p:cNvPr id="8" name="Text 5"/>
          <p:cNvSpPr txBox="1"/>
          <p:nvPr/>
        </p:nvSpPr>
        <p:spPr>
          <a:xfrm>
            <a:off x="2027597" y="2612356"/>
            <a:ext cx="804980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[Износ разметки]</a:t>
            </a:r>
            <a:endParaRPr lang="en-US" sz="680" dirty="0"/>
          </a:p>
        </p:txBody>
      </p:sp>
      <p:sp>
        <p:nvSpPr>
          <p:cNvPr id="9" name="Text 6"/>
          <p:cNvSpPr txBox="1"/>
          <p:nvPr/>
        </p:nvSpPr>
        <p:spPr>
          <a:xfrm>
            <a:off x="559891" y="2808698"/>
            <a:ext cx="1087998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[Разрушение покрытия]</a:t>
            </a:r>
            <a:endParaRPr lang="en-US" sz="680" dirty="0"/>
          </a:p>
        </p:txBody>
      </p:sp>
      <p:sp>
        <p:nvSpPr>
          <p:cNvPr id="10" name="Text 7"/>
          <p:cNvSpPr txBox="1"/>
          <p:nvPr/>
        </p:nvSpPr>
        <p:spPr>
          <a:xfrm>
            <a:off x="3334234" y="1482167"/>
            <a:ext cx="1185492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Транспорт и поток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368725" y="2808698"/>
            <a:ext cx="420327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[Пробки]</a:t>
            </a:r>
            <a:endParaRPr lang="en-US" sz="680" dirty="0"/>
          </a:p>
        </p:txBody>
      </p:sp>
      <p:sp>
        <p:nvSpPr>
          <p:cNvPr id="12" name="Text 9"/>
          <p:cNvSpPr txBox="1"/>
          <p:nvPr/>
        </p:nvSpPr>
        <p:spPr>
          <a:xfrm>
            <a:off x="3898478" y="2808698"/>
            <a:ext cx="419262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[Аварии]</a:t>
            </a:r>
            <a:endParaRPr lang="en-US" sz="680" dirty="0"/>
          </a:p>
        </p:txBody>
      </p:sp>
      <p:sp>
        <p:nvSpPr>
          <p:cNvPr id="13" name="Text 10"/>
          <p:cNvSpPr txBox="1"/>
          <p:nvPr/>
        </p:nvSpPr>
        <p:spPr>
          <a:xfrm>
            <a:off x="4427227" y="2808698"/>
            <a:ext cx="1009671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[Аномалии движения]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143179" y="1482167"/>
            <a:ext cx="1086933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Инфраструктура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77669" y="2612356"/>
            <a:ext cx="1046823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[Повреждения мостов]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7298457" y="2612356"/>
            <a:ext cx="1081372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[Дефекты конструкций]</a:t>
            </a:r>
            <a:endParaRPr lang="en-US" sz="680" dirty="0"/>
          </a:p>
        </p:txBody>
      </p:sp>
      <p:sp>
        <p:nvSpPr>
          <p:cNvPr id="17" name="Text 14"/>
          <p:cNvSpPr txBox="1"/>
          <p:nvPr/>
        </p:nvSpPr>
        <p:spPr>
          <a:xfrm>
            <a:off x="6177669" y="2808698"/>
            <a:ext cx="1321321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[Проблемы опор и покрытий]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525400" y="3205151"/>
            <a:ext cx="60454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Геориски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59891" y="4531792"/>
            <a:ext cx="469429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[Оползни]</a:t>
            </a:r>
            <a:endParaRPr lang="en-US" sz="680" dirty="0"/>
          </a:p>
        </p:txBody>
      </p:sp>
      <p:sp>
        <p:nvSpPr>
          <p:cNvPr id="20" name="Text 17"/>
          <p:cNvSpPr txBox="1"/>
          <p:nvPr/>
        </p:nvSpPr>
        <p:spPr>
          <a:xfrm>
            <a:off x="1135968" y="4531792"/>
            <a:ext cx="1024934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[Разрушение склонов]</a:t>
            </a:r>
            <a:endParaRPr lang="en-US" sz="680" dirty="0"/>
          </a:p>
        </p:txBody>
      </p:sp>
      <p:sp>
        <p:nvSpPr>
          <p:cNvPr id="21" name="Text 18"/>
          <p:cNvSpPr txBox="1"/>
          <p:nvPr/>
        </p:nvSpPr>
        <p:spPr>
          <a:xfrm>
            <a:off x="2236105" y="4531792"/>
            <a:ext cx="408140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[Эрозия]</a:t>
            </a:r>
            <a:endParaRPr lang="en-US" sz="680" dirty="0"/>
          </a:p>
        </p:txBody>
      </p:sp>
      <p:sp>
        <p:nvSpPr>
          <p:cNvPr id="22" name="Text 19"/>
          <p:cNvSpPr txBox="1"/>
          <p:nvPr/>
        </p:nvSpPr>
        <p:spPr>
          <a:xfrm>
            <a:off x="3334234" y="3205151"/>
            <a:ext cx="1269261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Дорожные объекты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368725" y="4335451"/>
            <a:ext cx="1276479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[Повреждение ограждений]</a:t>
            </a:r>
            <a:endParaRPr lang="en-US" sz="680" dirty="0"/>
          </a:p>
        </p:txBody>
      </p:sp>
      <p:sp>
        <p:nvSpPr>
          <p:cNvPr id="24" name="Text 21"/>
          <p:cNvSpPr txBox="1"/>
          <p:nvPr/>
        </p:nvSpPr>
        <p:spPr>
          <a:xfrm>
            <a:off x="3368725" y="4531792"/>
            <a:ext cx="1169992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[Дефекты знаков и табло]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4605710" y="4531792"/>
            <a:ext cx="1128108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[Незаконные постройки]</a:t>
            </a:r>
            <a:endParaRPr lang="en-US" sz="680" dirty="0"/>
          </a:p>
        </p:txBody>
      </p:sp>
      <p:sp>
        <p:nvSpPr>
          <p:cNvPr id="26" name="Text 23"/>
          <p:cNvSpPr txBox="1"/>
          <p:nvPr/>
        </p:nvSpPr>
        <p:spPr>
          <a:xfrm>
            <a:off x="6143179" y="3205151"/>
            <a:ext cx="1411480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Экстренные ситуации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177669" y="4335451"/>
            <a:ext cx="1326054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[Сходы грунта / Наводнения]</a:t>
            </a:r>
            <a:endParaRPr lang="en-US" sz="680" dirty="0"/>
          </a:p>
        </p:txBody>
      </p:sp>
      <p:sp>
        <p:nvSpPr>
          <p:cNvPr id="28" name="Text 25"/>
          <p:cNvSpPr txBox="1"/>
          <p:nvPr/>
        </p:nvSpPr>
        <p:spPr>
          <a:xfrm>
            <a:off x="7561883" y="4335451"/>
            <a:ext cx="1078650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[Посторонние объекты]</a:t>
            </a:r>
            <a:endParaRPr lang="en-US" sz="680" dirty="0"/>
          </a:p>
        </p:txBody>
      </p:sp>
      <p:sp>
        <p:nvSpPr>
          <p:cNvPr id="29" name="Text 26"/>
          <p:cNvSpPr txBox="1"/>
          <p:nvPr/>
        </p:nvSpPr>
        <p:spPr>
          <a:xfrm>
            <a:off x="6177669" y="4531792"/>
            <a:ext cx="1355397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[Люди / Животные на трассе]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7589565" y="4531792"/>
            <a:ext cx="947435" cy="10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8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[Зарастание дороги]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7417320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Микроскопический контроль дорожного покрытия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3486150"/>
            <a:ext cx="83124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Трещины</a:t>
            </a:r>
            <a:endParaRPr lang="en-US" sz="126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3734480"/>
            <a:ext cx="2778412" cy="49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Автоматическая классификация продольных и поперечных трещин на ранних стадиях разрушения.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257215" y="3486150"/>
            <a:ext cx="137196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Ямы и выбоины</a:t>
            </a:r>
            <a:endParaRPr lang="en-US" sz="1260" dirty="0"/>
          </a:p>
        </p:txBody>
      </p:sp>
      <p:sp>
        <p:nvSpPr>
          <p:cNvPr id="7" name="Text 4"/>
          <p:cNvSpPr txBox="1"/>
          <p:nvPr/>
        </p:nvSpPr>
        <p:spPr>
          <a:xfrm>
            <a:off x="3257215" y="3734480"/>
            <a:ext cx="2731558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Точная локализация ям и выбоин с передачей точных геокоординат ремонтным бригадам.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087480" y="3486150"/>
            <a:ext cx="140615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Износ разметки</a:t>
            </a:r>
            <a:endParaRPr lang="en-US" sz="1260" dirty="0"/>
          </a:p>
        </p:txBody>
      </p:sp>
      <p:sp>
        <p:nvSpPr>
          <p:cNvPr id="9" name="Text 6"/>
          <p:cNvSpPr txBox="1"/>
          <p:nvPr/>
        </p:nvSpPr>
        <p:spPr>
          <a:xfrm>
            <a:off x="6087480" y="3734480"/>
            <a:ext cx="2667074" cy="49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Оценка износа и выявление повреждённой дорожной разметки, критически важной для безопасности движения.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8424327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препятствий, откосов и внештатных ситуаций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4257214"/>
            <a:ext cx="2568988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Посторонние предметы и разливы</a:t>
            </a:r>
            <a:endParaRPr lang="en-US" sz="108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4451025"/>
            <a:ext cx="2587446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Мгновенная фиксация потерянного груза, мусора или технических жидкостей на проезжей части.</a:t>
            </a:r>
            <a:endParaRPr lang="en-US" sz="790" dirty="0"/>
          </a:p>
        </p:txBody>
      </p:sp>
      <p:sp>
        <p:nvSpPr>
          <p:cNvPr id="6" name="Text 3"/>
          <p:cNvSpPr txBox="1"/>
          <p:nvPr/>
        </p:nvSpPr>
        <p:spPr>
          <a:xfrm>
            <a:off x="3111996" y="4257214"/>
            <a:ext cx="2122455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Состояние обочин и откосов</a:t>
            </a:r>
            <a:endParaRPr lang="en-US" sz="1080" dirty="0"/>
          </a:p>
        </p:txBody>
      </p:sp>
      <p:sp>
        <p:nvSpPr>
          <p:cNvPr id="7" name="Text 4"/>
          <p:cNvSpPr txBox="1"/>
          <p:nvPr/>
        </p:nvSpPr>
        <p:spPr>
          <a:xfrm>
            <a:off x="3111996" y="4451025"/>
            <a:ext cx="2618446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разрушения укреплений, водоотводов и подпорных конструкций вдоль трассы.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5797042" y="2472505"/>
            <a:ext cx="1964737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биоразрастания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5797042" y="2666316"/>
            <a:ext cx="3111360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Выявление вторжения растений на обочины, закрывающих обзор или разрушающих откосы.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5797042" y="4116572"/>
            <a:ext cx="1686570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Внештатные ситуации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5797042" y="4310383"/>
            <a:ext cx="3021556" cy="42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Обнаружение пешеходов, животных или несанкционированной техники в опасной зоне дорожной инфраструктуры.</a:t>
            </a:r>
            <a:endParaRPr lang="en-US" sz="7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6066952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Единый центр диспетчеризации:</a:t>
            </a:r>
            <a:endParaRPr lang="en-US" sz="2660" dirty="0"/>
          </a:p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полный контроль из любой точки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1304181"/>
            <a:ext cx="298156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Видеопоток сверхвысокой четкости</a:t>
            </a:r>
            <a:endParaRPr lang="en-US" sz="119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1533831"/>
            <a:ext cx="2590049" cy="31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Наблюдение за инфраструктурой в реальном времени с нулевой задержкой.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427062" y="2009515"/>
            <a:ext cx="30093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Дистанционное управление оптикой</a:t>
            </a:r>
            <a:endParaRPr lang="en-US" sz="1190" dirty="0"/>
          </a:p>
        </p:txBody>
      </p:sp>
      <p:sp>
        <p:nvSpPr>
          <p:cNvPr id="7" name="Text 4"/>
          <p:cNvSpPr txBox="1"/>
          <p:nvPr/>
        </p:nvSpPr>
        <p:spPr>
          <a:xfrm>
            <a:off x="427062" y="2239165"/>
            <a:ext cx="2678788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Полный контроль над PTZ-камерами (панорамирование, наклон, многократный зум, инфракрасный режим).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427062" y="2873685"/>
            <a:ext cx="166539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Модуль оповещения</a:t>
            </a:r>
            <a:endParaRPr lang="en-US" sz="1190" dirty="0"/>
          </a:p>
        </p:txBody>
      </p:sp>
      <p:sp>
        <p:nvSpPr>
          <p:cNvPr id="9" name="Text 6"/>
          <p:cNvSpPr txBox="1"/>
          <p:nvPr/>
        </p:nvSpPr>
        <p:spPr>
          <a:xfrm>
            <a:off x="427062" y="3103335"/>
            <a:ext cx="2743153" cy="47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6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Возможность удаленной трансляции голосовых команд через громкоговоритель БПЛА для предупреждения водителей или нарушителей.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8534955" cy="7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Масштабируемость: От точечной инспекции до сетевого роя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1498558" y="1254118"/>
            <a:ext cx="1864876" cy="2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Одиночная работа</a:t>
            </a:r>
            <a:endParaRPr lang="en-US" sz="144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3871216"/>
            <a:ext cx="4079204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Сфокусированная инспекция.</a:t>
            </a: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Глубокий, многоракурсный анализ сложных одиночных объектов (мосты, эстакады, сложные развязки).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809801" y="1254118"/>
            <a:ext cx="1806072" cy="2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Групповая работа</a:t>
            </a:r>
            <a:endParaRPr lang="en-US" sz="1440" dirty="0"/>
          </a:p>
        </p:txBody>
      </p:sp>
      <p:sp>
        <p:nvSpPr>
          <p:cNvPr id="7" name="Text 4"/>
          <p:cNvSpPr txBox="1"/>
          <p:nvPr/>
        </p:nvSpPr>
        <p:spPr>
          <a:xfrm>
            <a:off x="4708847" y="3871216"/>
            <a:ext cx="3689108" cy="49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Сетевой рой.</a:t>
            </a: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Синхронное управление множеством БПЛА для мгновенного покрытия десятков километров дорожной сети в кратчайшие сроки.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94469"/>
            <a:ext cx="414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0"/>
              </a:lnSpc>
              <a:buNone/>
            </a:pPr>
            <a:r>
              <a:rPr lang="en-US" sz="266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Эффект для заказчика</a:t>
            </a:r>
            <a:endParaRPr lang="en-US" sz="266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84805"/>
            <a:ext cx="6076536" cy="61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1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Цифровизация и повышение эффективности управления дорогами. Платформа переводит инспекцию в 100% цифровой формат за счёт интеграции БПЛА, AI и 3D-моделирования.</a:t>
            </a:r>
            <a:endParaRPr lang="en-US" sz="1110" dirty="0"/>
          </a:p>
        </p:txBody>
      </p:sp>
      <p:sp>
        <p:nvSpPr>
          <p:cNvPr id="5" name="Text 2"/>
          <p:cNvSpPr txBox="1"/>
          <p:nvPr/>
        </p:nvSpPr>
        <p:spPr>
          <a:xfrm>
            <a:off x="1173473" y="1767520"/>
            <a:ext cx="1403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Снижение затрат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73473" y="1984757"/>
            <a:ext cx="1674502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Оптимизация бюджетов за счет полного отказа от ручных инспекций и пеших обходов.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3985431" y="1767520"/>
            <a:ext cx="1729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Ускорение процессов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985431" y="1984757"/>
            <a:ext cx="1801102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Мгновенное выявление дорожных дефектов и инцидентов для проактивного ремонта.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6797390" y="1767520"/>
            <a:ext cx="1120299" cy="3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Безопасность персонала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797390" y="2152747"/>
            <a:ext cx="1671070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Минимизация опасных выездов инженеров и рабочих на оживленные магистрали.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1173473" y="3383459"/>
            <a:ext cx="18061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Абсолютный контроль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73473" y="3600696"/>
            <a:ext cx="1780515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Полное устранение «слепых зон» мониторинга инфраструктуры на всем протяжении трассы.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3985431" y="3383459"/>
            <a:ext cx="17950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Точность диагностики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985431" y="3600696"/>
            <a:ext cx="1894219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Исключение человеческого фактора при поиске и классификации дорожных проблем.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6797390" y="3383459"/>
            <a:ext cx="1127398" cy="3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5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Экстренное реагирование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797390" y="3768686"/>
            <a:ext cx="1846182" cy="4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Быстрая диспетчеризация и мгновенная реакция при авариях и внештатных ЧС.</a:t>
            </a:r>
            <a:endParaRPr lang="en-US" sz="7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881583"/>
            <a:ext cx="4818930" cy="151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10"/>
              </a:lnSpc>
              <a:buNone/>
            </a:pPr>
            <a:r>
              <a:rPr lang="en-US" sz="359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Будущее дорожной</a:t>
            </a:r>
            <a:endParaRPr lang="en-US" sz="3590" dirty="0"/>
          </a:p>
          <a:p>
            <a:pPr marL="0" indent="0" algn="l">
              <a:lnSpc>
                <a:spcPts val="3810"/>
              </a:lnSpc>
              <a:buNone/>
            </a:pPr>
            <a:r>
              <a:rPr lang="en-US" sz="359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инфраструктуры</a:t>
            </a:r>
            <a:endParaRPr lang="en-US" sz="3590" dirty="0"/>
          </a:p>
          <a:p>
            <a:pPr marL="0" indent="0" algn="l">
              <a:lnSpc>
                <a:spcPts val="3810"/>
              </a:lnSpc>
              <a:buNone/>
            </a:pPr>
            <a:r>
              <a:rPr lang="en-US" sz="3590" b="1" kern="0" spc="-4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наступает сегодня</a:t>
            </a:r>
            <a:endParaRPr lang="en-US" sz="359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2494032"/>
            <a:ext cx="4057670" cy="680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0"/>
              </a:lnSpc>
              <a:buNone/>
            </a:pPr>
            <a:r>
              <a:rPr lang="en-US" sz="1260" dirty="0">
                <a:solidFill>
                  <a:srgbClr val="525050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Автоматизация рутины. Максимизация безопасности.</a:t>
            </a:r>
            <a:endParaRPr lang="en-US" sz="1260" dirty="0"/>
          </a:p>
          <a:p>
            <a:pPr marL="0" indent="0" algn="l">
              <a:lnSpc>
                <a:spcPts val="1790"/>
              </a:lnSpc>
              <a:buNone/>
            </a:pPr>
            <a:r>
              <a:rPr lang="en-US" sz="1260" dirty="0">
                <a:solidFill>
                  <a:srgbClr val="525050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Абсолютный контроль дорог, мостов и откосов.</a:t>
            </a:r>
            <a:endParaRPr lang="en-US" sz="126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3482202"/>
            <a:ext cx="2662578" cy="73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0"/>
              </a:lnSpc>
              <a:buNone/>
            </a:pPr>
            <a:r>
              <a:rPr lang="en-US" sz="13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UNB Group — ваш надёжный партнёр в цифровизации инфраструктуры.</a:t>
            </a:r>
            <a:endParaRPr lang="en-US" sz="13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Microsoft Office PowerPoint</Application>
  <PresentationFormat>Экран (16:9)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Rubik Medium</vt:lpstr>
      <vt:lpstr>Arial</vt:lpstr>
      <vt:lpstr>Rubik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Интеллектуальные решения для инспекции дорог — UNB Group</dc:title>
  <dc:subject>PptxGenJS Presentation</dc:subject>
  <dc:creator>PptxGenJS</dc:creator>
  <cp:lastModifiedBy>Amir Sh</cp:lastModifiedBy>
  <cp:revision>2</cp:revision>
  <dcterms:created xsi:type="dcterms:W3CDTF">2026-10-04T14:14:26Z</dcterms:created>
  <dcterms:modified xsi:type="dcterms:W3CDTF">2026-10-04T14:14:50Z</dcterms:modified>
</cp:coreProperties>
</file>