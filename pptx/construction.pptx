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0796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2256" y="1301575"/>
            <a:ext cx="607625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ТИТУЛ</a:t>
            </a:r>
            <a:endParaRPr lang="en-US" sz="680" dirty="0"/>
          </a:p>
        </p:txBody>
      </p:sp>
      <p:sp>
        <p:nvSpPr>
          <p:cNvPr id="4" name="Text 1"/>
          <p:cNvSpPr txBox="1"/>
          <p:nvPr/>
        </p:nvSpPr>
        <p:spPr>
          <a:xfrm>
            <a:off x="372256" y="1553654"/>
            <a:ext cx="4102749" cy="671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90"/>
              </a:lnSpc>
              <a:buNone/>
            </a:pPr>
            <a:r>
              <a:rPr lang="en-US" sz="2440" b="1" kern="0" spc="-2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Автономный мониторинг строительной площадки</a:t>
            </a:r>
            <a:endParaRPr lang="en-US" sz="2440" dirty="0"/>
          </a:p>
        </p:txBody>
      </p:sp>
      <p:sp>
        <p:nvSpPr>
          <p:cNvPr id="5" name="Text 2"/>
          <p:cNvSpPr txBox="1"/>
          <p:nvPr/>
        </p:nvSpPr>
        <p:spPr>
          <a:xfrm>
            <a:off x="554757" y="2364108"/>
            <a:ext cx="3313448" cy="330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Единая аналитическая платформа: БПЛА, робототехника, BIM и AI.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54757" y="2785924"/>
            <a:ext cx="3270616" cy="330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Технический сценарий работы комплекса — от облёта до отчёта о готовности.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07206" y="3385582"/>
            <a:ext cx="1399175" cy="284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6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 «план / факт»</a:t>
            </a:r>
            <a:endParaRPr lang="en-US" sz="860" dirty="0"/>
          </a:p>
          <a:p>
            <a:pPr marL="0" indent="0" algn="l">
              <a:lnSpc>
                <a:spcPts val="1120"/>
              </a:lnSpc>
              <a:buNone/>
            </a:pPr>
            <a:r>
              <a:rPr lang="en-US" sz="86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цифровой модели</a:t>
            </a:r>
            <a:endParaRPr lang="en-US" sz="860" dirty="0"/>
          </a:p>
        </p:txBody>
      </p:sp>
      <p:sp>
        <p:nvSpPr>
          <p:cNvPr id="8" name="Text 5"/>
          <p:cNvSpPr txBox="1"/>
          <p:nvPr/>
        </p:nvSpPr>
        <p:spPr>
          <a:xfrm>
            <a:off x="7895337" y="1446514"/>
            <a:ext cx="712100" cy="307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810"/>
              </a:lnSpc>
              <a:buNone/>
            </a:pPr>
            <a:r>
              <a:rPr lang="en-US" sz="470" kern="0" spc="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SITE SCAN: ACTIVE</a:t>
            </a:r>
            <a:endParaRPr lang="en-US" sz="470" dirty="0"/>
          </a:p>
          <a:p>
            <a:pPr marL="0" indent="0" algn="r">
              <a:lnSpc>
                <a:spcPts val="810"/>
              </a:lnSpc>
              <a:buNone/>
            </a:pPr>
            <a:r>
              <a:rPr lang="en-US" sz="470" kern="0" spc="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 DAILY</a:t>
            </a:r>
            <a:endParaRPr lang="en-US" sz="470" dirty="0"/>
          </a:p>
          <a:p>
            <a:pPr marL="0" indent="0" algn="r">
              <a:lnSpc>
                <a:spcPts val="810"/>
              </a:lnSpc>
              <a:buNone/>
            </a:pPr>
            <a:r>
              <a:rPr lang="en-US" sz="470" kern="0" spc="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MODE: AUTO</a:t>
            </a:r>
            <a:endParaRPr lang="en-US" sz="470" dirty="0"/>
          </a:p>
        </p:txBody>
      </p:sp>
      <p:sp>
        <p:nvSpPr>
          <p:cNvPr id="9" name="Text 6"/>
          <p:cNvSpPr txBox="1"/>
          <p:nvPr/>
        </p:nvSpPr>
        <p:spPr>
          <a:xfrm>
            <a:off x="372256" y="4858939"/>
            <a:ext cx="446830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70" dirty="0">
                <a:solidFill>
                  <a:srgbClr val="4A54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10</a:t>
            </a:r>
            <a:endParaRPr lang="en-US" sz="6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2256" y="1184931"/>
            <a:ext cx="955008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АРХИТЕКТУРА</a:t>
            </a:r>
            <a:endParaRPr lang="en-US" sz="680" dirty="0"/>
          </a:p>
        </p:txBody>
      </p:sp>
      <p:sp>
        <p:nvSpPr>
          <p:cNvPr id="4" name="Text 1"/>
          <p:cNvSpPr txBox="1"/>
          <p:nvPr/>
        </p:nvSpPr>
        <p:spPr>
          <a:xfrm>
            <a:off x="372256" y="1437010"/>
            <a:ext cx="5503757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60"/>
              </a:lnSpc>
              <a:buNone/>
            </a:pPr>
            <a:r>
              <a:rPr lang="en-US" sz="1870" b="1" kern="0" spc="-2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 автономного контроля объекта</a:t>
            </a:r>
            <a:endParaRPr lang="en-US" sz="1870" dirty="0"/>
          </a:p>
        </p:txBody>
      </p:sp>
      <p:sp>
        <p:nvSpPr>
          <p:cNvPr id="5" name="Text 2"/>
          <p:cNvSpPr txBox="1"/>
          <p:nvPr/>
        </p:nvSpPr>
        <p:spPr>
          <a:xfrm>
            <a:off x="470595" y="3189903"/>
            <a:ext cx="295856" cy="112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90"/>
              </a:lnSpc>
              <a:buNone/>
            </a:pPr>
            <a:r>
              <a:rPr lang="en-US" sz="610" kern="0" spc="60" dirty="0">
                <a:solidFill>
                  <a:srgbClr val="FF6B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ШАГ 1</a:t>
            </a:r>
            <a:endParaRPr lang="en-US" sz="610" dirty="0"/>
          </a:p>
        </p:txBody>
      </p:sp>
      <p:sp>
        <p:nvSpPr>
          <p:cNvPr id="6" name="Text 3"/>
          <p:cNvSpPr txBox="1"/>
          <p:nvPr/>
        </p:nvSpPr>
        <p:spPr>
          <a:xfrm>
            <a:off x="470595" y="3342719"/>
            <a:ext cx="1261689" cy="14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930" b="1" kern="0" spc="-10" dirty="0">
                <a:solidFill>
                  <a:srgbClr val="123C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Сбор макро-данных</a:t>
            </a:r>
            <a:endParaRPr lang="en-US" sz="930" dirty="0"/>
          </a:p>
        </p:txBody>
      </p:sp>
      <p:sp>
        <p:nvSpPr>
          <p:cNvPr id="7" name="Text 4"/>
          <p:cNvSpPr txBox="1"/>
          <p:nvPr/>
        </p:nvSpPr>
        <p:spPr>
          <a:xfrm>
            <a:off x="470595" y="3525896"/>
            <a:ext cx="1865586" cy="242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60"/>
              </a:lnSpc>
              <a:buNone/>
            </a:pPr>
            <a:r>
              <a:rPr lang="en-US" sz="68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Облёт БПЛА по заранее сформированным маршрутам.</a:t>
            </a:r>
            <a:endParaRPr lang="en-US" sz="680" dirty="0"/>
          </a:p>
        </p:txBody>
      </p:sp>
      <p:sp>
        <p:nvSpPr>
          <p:cNvPr id="8" name="Text 5"/>
          <p:cNvSpPr txBox="1"/>
          <p:nvPr/>
        </p:nvSpPr>
        <p:spPr>
          <a:xfrm>
            <a:off x="2597758" y="3190014"/>
            <a:ext cx="295856" cy="112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90"/>
              </a:lnSpc>
              <a:buNone/>
            </a:pPr>
            <a:r>
              <a:rPr lang="en-US" sz="610" kern="0" spc="60" dirty="0">
                <a:solidFill>
                  <a:srgbClr val="FF6B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ШАГ 2</a:t>
            </a:r>
            <a:endParaRPr lang="en-US" sz="610" dirty="0"/>
          </a:p>
        </p:txBody>
      </p:sp>
      <p:sp>
        <p:nvSpPr>
          <p:cNvPr id="9" name="Text 6"/>
          <p:cNvSpPr txBox="1"/>
          <p:nvPr/>
        </p:nvSpPr>
        <p:spPr>
          <a:xfrm>
            <a:off x="2597758" y="3342831"/>
            <a:ext cx="1110478" cy="14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930" b="1" kern="0" spc="-10" dirty="0">
                <a:solidFill>
                  <a:srgbClr val="123C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Микро-инспекция</a:t>
            </a:r>
            <a:endParaRPr lang="en-US" sz="930" dirty="0"/>
          </a:p>
        </p:txBody>
      </p:sp>
      <p:sp>
        <p:nvSpPr>
          <p:cNvPr id="10" name="Text 7"/>
          <p:cNvSpPr txBox="1"/>
          <p:nvPr/>
        </p:nvSpPr>
        <p:spPr>
          <a:xfrm>
            <a:off x="2597758" y="3526008"/>
            <a:ext cx="1835060" cy="242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60"/>
              </a:lnSpc>
              <a:buNone/>
            </a:pPr>
            <a:r>
              <a:rPr lang="en-US" sz="68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Сканирование закрытых зон и внутренних помещений.</a:t>
            </a:r>
            <a:endParaRPr lang="en-US" sz="680" dirty="0"/>
          </a:p>
        </p:txBody>
      </p:sp>
      <p:sp>
        <p:nvSpPr>
          <p:cNvPr id="11" name="Text 8"/>
          <p:cNvSpPr txBox="1"/>
          <p:nvPr/>
        </p:nvSpPr>
        <p:spPr>
          <a:xfrm>
            <a:off x="4725033" y="3190014"/>
            <a:ext cx="295856" cy="112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90"/>
              </a:lnSpc>
              <a:buNone/>
            </a:pPr>
            <a:r>
              <a:rPr lang="en-US" sz="610" kern="0" spc="60" dirty="0">
                <a:solidFill>
                  <a:srgbClr val="FF6B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ШАГ 3</a:t>
            </a:r>
            <a:endParaRPr lang="en-US" sz="610" dirty="0"/>
          </a:p>
        </p:txBody>
      </p:sp>
      <p:sp>
        <p:nvSpPr>
          <p:cNvPr id="12" name="Text 9"/>
          <p:cNvSpPr txBox="1"/>
          <p:nvPr/>
        </p:nvSpPr>
        <p:spPr>
          <a:xfrm>
            <a:off x="4725033" y="3342831"/>
            <a:ext cx="1232109" cy="14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930" b="1" kern="0" spc="-10" dirty="0">
                <a:solidFill>
                  <a:srgbClr val="123C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Цифровой двойник</a:t>
            </a:r>
            <a:endParaRPr lang="en-US" sz="930" dirty="0"/>
          </a:p>
        </p:txBody>
      </p:sp>
      <p:sp>
        <p:nvSpPr>
          <p:cNvPr id="13" name="Text 10"/>
          <p:cNvSpPr txBox="1"/>
          <p:nvPr/>
        </p:nvSpPr>
        <p:spPr>
          <a:xfrm>
            <a:off x="4725033" y="3526008"/>
            <a:ext cx="1745138" cy="242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60"/>
              </a:lnSpc>
              <a:buNone/>
            </a:pPr>
            <a:r>
              <a:rPr lang="en-US" sz="68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Интеграция полученных данных с BIM и CAD.</a:t>
            </a:r>
            <a:endParaRPr lang="en-US" sz="680" dirty="0"/>
          </a:p>
        </p:txBody>
      </p:sp>
      <p:sp>
        <p:nvSpPr>
          <p:cNvPr id="14" name="Text 11"/>
          <p:cNvSpPr txBox="1"/>
          <p:nvPr/>
        </p:nvSpPr>
        <p:spPr>
          <a:xfrm>
            <a:off x="6852307" y="3190014"/>
            <a:ext cx="295856" cy="112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90"/>
              </a:lnSpc>
              <a:buNone/>
            </a:pPr>
            <a:r>
              <a:rPr lang="en-US" sz="610" kern="0" spc="60" dirty="0">
                <a:solidFill>
                  <a:srgbClr val="FF6B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ШАГ 4</a:t>
            </a:r>
            <a:endParaRPr lang="en-US" sz="610" dirty="0"/>
          </a:p>
        </p:txBody>
      </p:sp>
      <p:sp>
        <p:nvSpPr>
          <p:cNvPr id="15" name="Text 12"/>
          <p:cNvSpPr txBox="1"/>
          <p:nvPr/>
        </p:nvSpPr>
        <p:spPr>
          <a:xfrm>
            <a:off x="6852307" y="3342831"/>
            <a:ext cx="881177" cy="14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930" b="1" kern="0" spc="-10" dirty="0">
                <a:solidFill>
                  <a:srgbClr val="123C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ИИ-аналитика</a:t>
            </a:r>
            <a:endParaRPr lang="en-US" sz="930" dirty="0"/>
          </a:p>
        </p:txBody>
      </p:sp>
      <p:sp>
        <p:nvSpPr>
          <p:cNvPr id="16" name="Text 13"/>
          <p:cNvSpPr txBox="1"/>
          <p:nvPr/>
        </p:nvSpPr>
        <p:spPr>
          <a:xfrm>
            <a:off x="6852307" y="3526008"/>
            <a:ext cx="1846537" cy="242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60"/>
              </a:lnSpc>
              <a:buNone/>
            </a:pPr>
            <a:r>
              <a:rPr lang="en-US" sz="68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Распознавание объектов и формирование отчётов.</a:t>
            </a:r>
            <a:endParaRPr lang="en-US" sz="680" dirty="0"/>
          </a:p>
        </p:txBody>
      </p:sp>
      <p:sp>
        <p:nvSpPr>
          <p:cNvPr id="17" name="Text 14"/>
          <p:cNvSpPr txBox="1"/>
          <p:nvPr/>
        </p:nvSpPr>
        <p:spPr>
          <a:xfrm>
            <a:off x="372256" y="4858939"/>
            <a:ext cx="446830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70" dirty="0">
                <a:solidFill>
                  <a:srgbClr val="4A54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10</a:t>
            </a:r>
            <a:endParaRPr lang="en-US" sz="6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2256" y="515316"/>
            <a:ext cx="665483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ЭТАП 1</a:t>
            </a:r>
            <a:endParaRPr lang="en-US" sz="680" dirty="0"/>
          </a:p>
        </p:txBody>
      </p:sp>
      <p:sp>
        <p:nvSpPr>
          <p:cNvPr id="4" name="Text 1"/>
          <p:cNvSpPr txBox="1"/>
          <p:nvPr/>
        </p:nvSpPr>
        <p:spPr>
          <a:xfrm>
            <a:off x="372256" y="1441921"/>
            <a:ext cx="4704043" cy="52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60"/>
              </a:lnSpc>
              <a:buNone/>
            </a:pPr>
            <a:r>
              <a:rPr lang="en-US" sz="1870" b="1" kern="0" spc="-2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Воздушное обследование формирует цифровой слепок объекта</a:t>
            </a:r>
            <a:endParaRPr lang="en-US" sz="1870" dirty="0"/>
          </a:p>
        </p:txBody>
      </p:sp>
      <p:sp>
        <p:nvSpPr>
          <p:cNvPr id="5" name="Text 2"/>
          <p:cNvSpPr txBox="1"/>
          <p:nvPr/>
        </p:nvSpPr>
        <p:spPr>
          <a:xfrm>
            <a:off x="372256" y="2062260"/>
            <a:ext cx="4384465" cy="314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0"/>
              </a:lnSpc>
              <a:buNone/>
            </a:pPr>
            <a:r>
              <a:rPr lang="en-US" sz="83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Автоматический облёт БПЛА по заранее сформированным маршрутам непрерывно создаёт актуальную копию площадки.</a:t>
            </a:r>
            <a:endParaRPr lang="en-US" sz="830" dirty="0"/>
          </a:p>
        </p:txBody>
      </p:sp>
      <p:sp>
        <p:nvSpPr>
          <p:cNvPr id="6" name="Text 3"/>
          <p:cNvSpPr txBox="1"/>
          <p:nvPr/>
        </p:nvSpPr>
        <p:spPr>
          <a:xfrm>
            <a:off x="479747" y="2588126"/>
            <a:ext cx="138374" cy="1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650" dirty="0"/>
          </a:p>
        </p:txBody>
      </p:sp>
      <p:sp>
        <p:nvSpPr>
          <p:cNvPr id="7" name="Text 4"/>
          <p:cNvSpPr txBox="1"/>
          <p:nvPr/>
        </p:nvSpPr>
        <p:spPr>
          <a:xfrm>
            <a:off x="674526" y="2569833"/>
            <a:ext cx="2879811" cy="134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75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Фотограмметрическая съёмка</a:t>
            </a:r>
            <a:r>
              <a:rPr lang="en-US" sz="75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 ортофотоплан площадки.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479747" y="2983041"/>
            <a:ext cx="138374" cy="1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650" dirty="0"/>
          </a:p>
        </p:txBody>
      </p:sp>
      <p:sp>
        <p:nvSpPr>
          <p:cNvPr id="9" name="Text 6"/>
          <p:cNvSpPr txBox="1"/>
          <p:nvPr/>
        </p:nvSpPr>
        <p:spPr>
          <a:xfrm>
            <a:off x="674526" y="2964749"/>
            <a:ext cx="3068884" cy="134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75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Построение актуальной 3D-модели</a:t>
            </a:r>
            <a:r>
              <a:rPr lang="en-US" sz="75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объекта на каждый облёт.</a:t>
            </a:r>
            <a:endParaRPr lang="en-US" sz="750" dirty="0"/>
          </a:p>
        </p:txBody>
      </p:sp>
      <p:sp>
        <p:nvSpPr>
          <p:cNvPr id="10" name="Text 7"/>
          <p:cNvSpPr txBox="1"/>
          <p:nvPr/>
        </p:nvSpPr>
        <p:spPr>
          <a:xfrm>
            <a:off x="479747" y="3377957"/>
            <a:ext cx="138374" cy="1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650" dirty="0"/>
          </a:p>
        </p:txBody>
      </p:sp>
      <p:sp>
        <p:nvSpPr>
          <p:cNvPr id="11" name="Text 8"/>
          <p:cNvSpPr txBox="1"/>
          <p:nvPr/>
        </p:nvSpPr>
        <p:spPr>
          <a:xfrm>
            <a:off x="674526" y="3359664"/>
            <a:ext cx="3102723" cy="134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75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 техники и персонала</a:t>
            </a:r>
            <a:r>
              <a:rPr lang="en-US" sz="75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на территории стройплощадки.</a:t>
            </a:r>
            <a:endParaRPr lang="en-US" sz="750" dirty="0"/>
          </a:p>
        </p:txBody>
      </p:sp>
      <p:sp>
        <p:nvSpPr>
          <p:cNvPr id="12" name="Text 9"/>
          <p:cNvSpPr txBox="1"/>
          <p:nvPr/>
        </p:nvSpPr>
        <p:spPr>
          <a:xfrm>
            <a:off x="479747" y="3772872"/>
            <a:ext cx="138374" cy="1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650" dirty="0"/>
          </a:p>
        </p:txBody>
      </p:sp>
      <p:sp>
        <p:nvSpPr>
          <p:cNvPr id="13" name="Text 10"/>
          <p:cNvSpPr txBox="1"/>
          <p:nvPr/>
        </p:nvSpPr>
        <p:spPr>
          <a:xfrm>
            <a:off x="674526" y="3754580"/>
            <a:ext cx="2472441" cy="134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75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Облачная передача данных</a:t>
            </a:r>
            <a:r>
              <a:rPr lang="en-US" sz="75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в реальном времени.</a:t>
            </a:r>
            <a:endParaRPr lang="en-US" sz="750" dirty="0"/>
          </a:p>
        </p:txBody>
      </p:sp>
      <p:sp>
        <p:nvSpPr>
          <p:cNvPr id="14" name="Text 11"/>
          <p:cNvSpPr txBox="1"/>
          <p:nvPr/>
        </p:nvSpPr>
        <p:spPr>
          <a:xfrm>
            <a:off x="372256" y="4858939"/>
            <a:ext cx="446830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70" dirty="0">
                <a:solidFill>
                  <a:srgbClr val="4A54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10</a:t>
            </a:r>
            <a:endParaRPr lang="en-US" sz="6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2256" y="515316"/>
            <a:ext cx="665483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ЭТАП 2</a:t>
            </a:r>
            <a:endParaRPr lang="en-US" sz="680" dirty="0"/>
          </a:p>
        </p:txBody>
      </p:sp>
      <p:sp>
        <p:nvSpPr>
          <p:cNvPr id="4" name="Text 1"/>
          <p:cNvSpPr txBox="1"/>
          <p:nvPr/>
        </p:nvSpPr>
        <p:spPr>
          <a:xfrm>
            <a:off x="372256" y="1723206"/>
            <a:ext cx="3882441" cy="52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60"/>
              </a:lnSpc>
              <a:buNone/>
            </a:pPr>
            <a:r>
              <a:rPr lang="en-US" sz="1870" b="1" kern="0" spc="-2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Роботизированная инспекция закрытых зон и скрытых работ</a:t>
            </a:r>
            <a:endParaRPr lang="en-US" sz="1870" dirty="0"/>
          </a:p>
        </p:txBody>
      </p:sp>
      <p:sp>
        <p:nvSpPr>
          <p:cNvPr id="5" name="Text 2"/>
          <p:cNvSpPr txBox="1"/>
          <p:nvPr/>
        </p:nvSpPr>
        <p:spPr>
          <a:xfrm>
            <a:off x="372256" y="2343546"/>
            <a:ext cx="4565966" cy="314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0"/>
              </a:lnSpc>
              <a:buNone/>
            </a:pPr>
            <a:r>
              <a:rPr lang="en-US" sz="83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 завершения облёта платформа выполняет глубокое сканирование помещений с использованием LiDAR, HD-камер и алгоритмов автономного позиционирования.</a:t>
            </a:r>
            <a:endParaRPr lang="en-US" sz="830" dirty="0"/>
          </a:p>
        </p:txBody>
      </p:sp>
      <p:sp>
        <p:nvSpPr>
          <p:cNvPr id="6" name="Text 3"/>
          <p:cNvSpPr txBox="1"/>
          <p:nvPr/>
        </p:nvSpPr>
        <p:spPr>
          <a:xfrm>
            <a:off x="554757" y="2767618"/>
            <a:ext cx="1965447" cy="165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 качества скрытых работ.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54757" y="3024124"/>
            <a:ext cx="2501429" cy="165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Учёт строительных материалов на складах.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554757" y="3280629"/>
            <a:ext cx="2096780" cy="165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Выявление отклонений от чертежей.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54757" y="3537134"/>
            <a:ext cx="2192263" cy="165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Автономная навигация внутри здания.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372256" y="4858939"/>
            <a:ext cx="446830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70" dirty="0">
                <a:solidFill>
                  <a:srgbClr val="4A54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10</a:t>
            </a:r>
            <a:endParaRPr lang="en-US" sz="6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2256" y="813791"/>
            <a:ext cx="781316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ПОКРЫТИЕ</a:t>
            </a:r>
            <a:endParaRPr lang="en-US" sz="680" dirty="0"/>
          </a:p>
        </p:txBody>
      </p:sp>
      <p:sp>
        <p:nvSpPr>
          <p:cNvPr id="4" name="Text 1"/>
          <p:cNvSpPr txBox="1"/>
          <p:nvPr/>
        </p:nvSpPr>
        <p:spPr>
          <a:xfrm>
            <a:off x="372256" y="1065870"/>
            <a:ext cx="8614110" cy="52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60"/>
              </a:lnSpc>
              <a:buNone/>
            </a:pPr>
            <a:r>
              <a:rPr lang="en-US" sz="1870" b="1" kern="0" spc="-2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Комплексное покрытие достигается за счёт синергии макро- и микро-сканирования</a:t>
            </a:r>
            <a:endParaRPr lang="en-US" sz="1870" dirty="0"/>
          </a:p>
        </p:txBody>
      </p:sp>
      <p:sp>
        <p:nvSpPr>
          <p:cNvPr id="5" name="Text 2"/>
          <p:cNvSpPr txBox="1"/>
          <p:nvPr/>
        </p:nvSpPr>
        <p:spPr>
          <a:xfrm>
            <a:off x="470595" y="3127687"/>
            <a:ext cx="565385" cy="146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0"/>
              </a:lnSpc>
              <a:buNone/>
            </a:pPr>
            <a:r>
              <a:rPr lang="en-US" sz="830" b="1" dirty="0">
                <a:solidFill>
                  <a:srgbClr val="F5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Параметр</a:t>
            </a:r>
            <a:endParaRPr lang="en-US" sz="830" dirty="0"/>
          </a:p>
        </p:txBody>
      </p:sp>
      <p:sp>
        <p:nvSpPr>
          <p:cNvPr id="6" name="Text 3"/>
          <p:cNvSpPr txBox="1"/>
          <p:nvPr/>
        </p:nvSpPr>
        <p:spPr>
          <a:xfrm>
            <a:off x="2316807" y="3127687"/>
            <a:ext cx="1518440" cy="146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0"/>
              </a:lnSpc>
              <a:buNone/>
            </a:pPr>
            <a:r>
              <a:rPr lang="en-US" sz="830" b="1" dirty="0">
                <a:solidFill>
                  <a:srgbClr val="F5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Воздушный сканер (БПЛА)</a:t>
            </a:r>
            <a:endParaRPr lang="en-US" sz="830" dirty="0"/>
          </a:p>
        </p:txBody>
      </p:sp>
      <p:sp>
        <p:nvSpPr>
          <p:cNvPr id="7" name="Text 4"/>
          <p:cNvSpPr txBox="1"/>
          <p:nvPr/>
        </p:nvSpPr>
        <p:spPr>
          <a:xfrm>
            <a:off x="5264497" y="3127687"/>
            <a:ext cx="1435854" cy="146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0"/>
              </a:lnSpc>
              <a:buNone/>
            </a:pPr>
            <a:r>
              <a:rPr lang="en-US" sz="830" b="1" dirty="0">
                <a:solidFill>
                  <a:srgbClr val="F5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Наземный сканер (робот)</a:t>
            </a:r>
            <a:endParaRPr lang="en-US" sz="830" dirty="0"/>
          </a:p>
        </p:txBody>
      </p:sp>
      <p:sp>
        <p:nvSpPr>
          <p:cNvPr id="8" name="Text 5"/>
          <p:cNvSpPr txBox="1"/>
          <p:nvPr/>
        </p:nvSpPr>
        <p:spPr>
          <a:xfrm>
            <a:off x="470595" y="3432664"/>
            <a:ext cx="794686" cy="134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75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Зона покрытия</a:t>
            </a:r>
            <a:endParaRPr lang="en-US" sz="750" dirty="0"/>
          </a:p>
        </p:txBody>
      </p:sp>
      <p:sp>
        <p:nvSpPr>
          <p:cNvPr id="9" name="Text 6"/>
          <p:cNvSpPr txBox="1"/>
          <p:nvPr/>
        </p:nvSpPr>
        <p:spPr>
          <a:xfrm>
            <a:off x="2316807" y="3432664"/>
            <a:ext cx="1287246" cy="134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75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Внешний контур и генплан</a:t>
            </a:r>
            <a:endParaRPr lang="en-US" sz="750" dirty="0"/>
          </a:p>
        </p:txBody>
      </p:sp>
      <p:sp>
        <p:nvSpPr>
          <p:cNvPr id="10" name="Text 7"/>
          <p:cNvSpPr txBox="1"/>
          <p:nvPr/>
        </p:nvSpPr>
        <p:spPr>
          <a:xfrm>
            <a:off x="5264497" y="3432664"/>
            <a:ext cx="1549912" cy="134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75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Внутренние помещения и этажи</a:t>
            </a:r>
            <a:endParaRPr lang="en-US" sz="750" dirty="0"/>
          </a:p>
        </p:txBody>
      </p:sp>
      <p:sp>
        <p:nvSpPr>
          <p:cNvPr id="11" name="Text 8"/>
          <p:cNvSpPr txBox="1"/>
          <p:nvPr/>
        </p:nvSpPr>
        <p:spPr>
          <a:xfrm>
            <a:off x="470595" y="3729130"/>
            <a:ext cx="1289375" cy="134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75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 собираемых данных</a:t>
            </a:r>
            <a:endParaRPr lang="en-US" sz="750" dirty="0"/>
          </a:p>
        </p:txBody>
      </p:sp>
      <p:sp>
        <p:nvSpPr>
          <p:cNvPr id="12" name="Text 9"/>
          <p:cNvSpPr txBox="1"/>
          <p:nvPr/>
        </p:nvSpPr>
        <p:spPr>
          <a:xfrm>
            <a:off x="2316807" y="3729130"/>
            <a:ext cx="1263700" cy="134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75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Ортофотоплан, 3D-каркас</a:t>
            </a:r>
            <a:endParaRPr lang="en-US" sz="750" dirty="0"/>
          </a:p>
        </p:txBody>
      </p:sp>
      <p:sp>
        <p:nvSpPr>
          <p:cNvPr id="13" name="Text 10"/>
          <p:cNvSpPr txBox="1"/>
          <p:nvPr/>
        </p:nvSpPr>
        <p:spPr>
          <a:xfrm>
            <a:off x="5264497" y="3729130"/>
            <a:ext cx="1891616" cy="134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75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Точечные LiDAR-сканы, HD-фото узлов</a:t>
            </a:r>
            <a:endParaRPr lang="en-US" sz="750" dirty="0"/>
          </a:p>
        </p:txBody>
      </p:sp>
      <p:sp>
        <p:nvSpPr>
          <p:cNvPr id="14" name="Text 11"/>
          <p:cNvSpPr txBox="1"/>
          <p:nvPr/>
        </p:nvSpPr>
        <p:spPr>
          <a:xfrm>
            <a:off x="470595" y="4025596"/>
            <a:ext cx="897860" cy="134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75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Ключевая задача</a:t>
            </a:r>
            <a:endParaRPr lang="en-US" sz="750" dirty="0"/>
          </a:p>
        </p:txBody>
      </p:sp>
      <p:sp>
        <p:nvSpPr>
          <p:cNvPr id="15" name="Text 12"/>
          <p:cNvSpPr txBox="1"/>
          <p:nvPr/>
        </p:nvSpPr>
        <p:spPr>
          <a:xfrm>
            <a:off x="2316807" y="4025596"/>
            <a:ext cx="1488269" cy="134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75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 объёмов и логистики</a:t>
            </a:r>
            <a:endParaRPr lang="en-US" sz="750" dirty="0"/>
          </a:p>
        </p:txBody>
      </p:sp>
      <p:sp>
        <p:nvSpPr>
          <p:cNvPr id="16" name="Text 13"/>
          <p:cNvSpPr txBox="1"/>
          <p:nvPr/>
        </p:nvSpPr>
        <p:spPr>
          <a:xfrm>
            <a:off x="5264497" y="4025596"/>
            <a:ext cx="1588129" cy="134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75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 качества и дефектовка</a:t>
            </a:r>
            <a:endParaRPr lang="en-US" sz="750" dirty="0"/>
          </a:p>
        </p:txBody>
      </p:sp>
      <p:sp>
        <p:nvSpPr>
          <p:cNvPr id="17" name="Text 14"/>
          <p:cNvSpPr txBox="1"/>
          <p:nvPr/>
        </p:nvSpPr>
        <p:spPr>
          <a:xfrm>
            <a:off x="372256" y="4858939"/>
            <a:ext cx="446830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70" dirty="0">
                <a:solidFill>
                  <a:srgbClr val="4A54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10</a:t>
            </a:r>
            <a:endParaRPr lang="en-US" sz="6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2256" y="515316"/>
            <a:ext cx="665483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ЭТАП 3</a:t>
            </a:r>
            <a:endParaRPr lang="en-US" sz="680" dirty="0"/>
          </a:p>
        </p:txBody>
      </p:sp>
      <p:sp>
        <p:nvSpPr>
          <p:cNvPr id="4" name="Text 1"/>
          <p:cNvSpPr txBox="1"/>
          <p:nvPr/>
        </p:nvSpPr>
        <p:spPr>
          <a:xfrm>
            <a:off x="372256" y="1567607"/>
            <a:ext cx="3631606" cy="786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60"/>
              </a:lnSpc>
              <a:buNone/>
            </a:pPr>
            <a:r>
              <a:rPr lang="en-US" sz="1870" b="1" kern="0" spc="-2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Сопоставление физической реальности с проектной BIM-моделью</a:t>
            </a:r>
            <a:endParaRPr lang="en-US" sz="1870" dirty="0"/>
          </a:p>
        </p:txBody>
      </p:sp>
      <p:sp>
        <p:nvSpPr>
          <p:cNvPr id="5" name="Text 2"/>
          <p:cNvSpPr txBox="1"/>
          <p:nvPr/>
        </p:nvSpPr>
        <p:spPr>
          <a:xfrm>
            <a:off x="372256" y="2449028"/>
            <a:ext cx="4684521" cy="314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0"/>
              </a:lnSpc>
              <a:buNone/>
            </a:pPr>
            <a:r>
              <a:rPr lang="en-US" sz="83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Полученные фактические данные автоматически накладываются на CAD-чертежи и план производства работ.</a:t>
            </a:r>
            <a:endParaRPr lang="en-US" sz="830" dirty="0"/>
          </a:p>
        </p:txBody>
      </p:sp>
      <p:sp>
        <p:nvSpPr>
          <p:cNvPr id="6" name="Text 3"/>
          <p:cNvSpPr txBox="1"/>
          <p:nvPr/>
        </p:nvSpPr>
        <p:spPr>
          <a:xfrm>
            <a:off x="479747" y="2974893"/>
            <a:ext cx="138374" cy="1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650" dirty="0"/>
          </a:p>
        </p:txBody>
      </p:sp>
      <p:sp>
        <p:nvSpPr>
          <p:cNvPr id="7" name="Text 4"/>
          <p:cNvSpPr txBox="1"/>
          <p:nvPr/>
        </p:nvSpPr>
        <p:spPr>
          <a:xfrm>
            <a:off x="674526" y="2956600"/>
            <a:ext cx="1710352" cy="26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75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Фактический объём</a:t>
            </a:r>
            <a:r>
              <a:rPr lang="en-US" sz="75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выполненных работ.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2733935" y="2974893"/>
            <a:ext cx="138374" cy="1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650" dirty="0"/>
          </a:p>
        </p:txBody>
      </p:sp>
      <p:sp>
        <p:nvSpPr>
          <p:cNvPr id="9" name="Text 6"/>
          <p:cNvSpPr txBox="1"/>
          <p:nvPr/>
        </p:nvSpPr>
        <p:spPr>
          <a:xfrm>
            <a:off x="2928714" y="2956600"/>
            <a:ext cx="1424613" cy="26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75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Количество</a:t>
            </a:r>
            <a:r>
              <a:rPr lang="en-US" sz="75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использованных материалов.</a:t>
            </a:r>
            <a:endParaRPr lang="en-US" sz="750" dirty="0"/>
          </a:p>
        </p:txBody>
      </p:sp>
      <p:sp>
        <p:nvSpPr>
          <p:cNvPr id="10" name="Text 7"/>
          <p:cNvSpPr txBox="1"/>
          <p:nvPr/>
        </p:nvSpPr>
        <p:spPr>
          <a:xfrm>
            <a:off x="479747" y="3513018"/>
            <a:ext cx="138374" cy="1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650" dirty="0"/>
          </a:p>
        </p:txBody>
      </p:sp>
      <p:sp>
        <p:nvSpPr>
          <p:cNvPr id="11" name="Text 8"/>
          <p:cNvSpPr txBox="1"/>
          <p:nvPr/>
        </p:nvSpPr>
        <p:spPr>
          <a:xfrm>
            <a:off x="674526" y="3494726"/>
            <a:ext cx="1289020" cy="26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75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Отклонения</a:t>
            </a:r>
            <a:r>
              <a:rPr lang="en-US" sz="75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от проектных параметров.</a:t>
            </a:r>
            <a:endParaRPr lang="en-US" sz="750" dirty="0"/>
          </a:p>
        </p:txBody>
      </p:sp>
      <p:sp>
        <p:nvSpPr>
          <p:cNvPr id="12" name="Text 9"/>
          <p:cNvSpPr txBox="1"/>
          <p:nvPr/>
        </p:nvSpPr>
        <p:spPr>
          <a:xfrm>
            <a:off x="2733935" y="3513018"/>
            <a:ext cx="138374" cy="1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650" dirty="0"/>
          </a:p>
        </p:txBody>
      </p:sp>
      <p:sp>
        <p:nvSpPr>
          <p:cNvPr id="13" name="Text 10"/>
          <p:cNvSpPr txBox="1"/>
          <p:nvPr/>
        </p:nvSpPr>
        <p:spPr>
          <a:xfrm>
            <a:off x="2928714" y="3494726"/>
            <a:ext cx="1834705" cy="134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75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Соблюдение</a:t>
            </a:r>
            <a:r>
              <a:rPr lang="en-US" sz="75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строительного графика.</a:t>
            </a:r>
            <a:endParaRPr lang="en-US" sz="750" dirty="0"/>
          </a:p>
        </p:txBody>
      </p:sp>
      <p:sp>
        <p:nvSpPr>
          <p:cNvPr id="14" name="Text 11"/>
          <p:cNvSpPr txBox="1"/>
          <p:nvPr/>
        </p:nvSpPr>
        <p:spPr>
          <a:xfrm>
            <a:off x="372256" y="4858939"/>
            <a:ext cx="446830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70" dirty="0">
                <a:solidFill>
                  <a:srgbClr val="4A54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10</a:t>
            </a:r>
            <a:endParaRPr lang="en-US" sz="6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2256" y="515316"/>
            <a:ext cx="665483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ЭТАП 4</a:t>
            </a:r>
            <a:endParaRPr lang="en-US" sz="680" dirty="0"/>
          </a:p>
        </p:txBody>
      </p:sp>
      <p:sp>
        <p:nvSpPr>
          <p:cNvPr id="4" name="Text 1"/>
          <p:cNvSpPr txBox="1"/>
          <p:nvPr/>
        </p:nvSpPr>
        <p:spPr>
          <a:xfrm>
            <a:off x="372256" y="1640607"/>
            <a:ext cx="4684521" cy="52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60"/>
              </a:lnSpc>
              <a:buNone/>
            </a:pPr>
            <a:r>
              <a:rPr lang="en-US" sz="1870" b="1" kern="0" spc="-2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Нейросети классифицируют объекты и выявляют нарушения</a:t>
            </a:r>
            <a:endParaRPr lang="en-US" sz="1870" dirty="0"/>
          </a:p>
        </p:txBody>
      </p:sp>
      <p:sp>
        <p:nvSpPr>
          <p:cNvPr id="5" name="Text 2"/>
          <p:cNvSpPr txBox="1"/>
          <p:nvPr/>
        </p:nvSpPr>
        <p:spPr>
          <a:xfrm>
            <a:off x="372256" y="2260946"/>
            <a:ext cx="4026197" cy="314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0"/>
              </a:lnSpc>
              <a:buNone/>
            </a:pPr>
            <a:r>
              <a:rPr lang="en-US" sz="83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Алгоритмы искусственного интеллекта анализируют визуальные данные для автоматического формирования аналитических отчётов.</a:t>
            </a:r>
            <a:endParaRPr lang="en-US" sz="830" dirty="0"/>
          </a:p>
        </p:txBody>
      </p:sp>
      <p:sp>
        <p:nvSpPr>
          <p:cNvPr id="6" name="Text 3"/>
          <p:cNvSpPr txBox="1"/>
          <p:nvPr/>
        </p:nvSpPr>
        <p:spPr>
          <a:xfrm>
            <a:off x="554757" y="2685019"/>
            <a:ext cx="1932909" cy="165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Подсчёт объёма залитого бетона.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54757" y="2941524"/>
            <a:ext cx="2893891" cy="330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Учёт установленных элементов и смонтированных конструкций.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554757" y="3363340"/>
            <a:ext cx="2000469" cy="165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Фиксация строительных дефектов.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54757" y="3619845"/>
            <a:ext cx="2621877" cy="165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Выявление нарушений техники безопасности.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372256" y="4858939"/>
            <a:ext cx="446830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70" dirty="0">
                <a:solidFill>
                  <a:srgbClr val="4A54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10</a:t>
            </a:r>
            <a:endParaRPr lang="en-US" sz="6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2256" y="515316"/>
            <a:ext cx="665483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ОБЪЁМЫ</a:t>
            </a:r>
            <a:endParaRPr lang="en-US" sz="680" dirty="0"/>
          </a:p>
        </p:txBody>
      </p:sp>
      <p:sp>
        <p:nvSpPr>
          <p:cNvPr id="4" name="Text 1"/>
          <p:cNvSpPr txBox="1"/>
          <p:nvPr/>
        </p:nvSpPr>
        <p:spPr>
          <a:xfrm>
            <a:off x="372256" y="1568723"/>
            <a:ext cx="4483261" cy="52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60"/>
              </a:lnSpc>
              <a:buNone/>
            </a:pPr>
            <a:r>
              <a:rPr lang="en-US" sz="1870" b="1" kern="0" spc="-2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Объёмы и материалы считаются по цифровой модели</a:t>
            </a:r>
            <a:endParaRPr lang="en-US" sz="1870" dirty="0"/>
          </a:p>
        </p:txBody>
      </p:sp>
      <p:sp>
        <p:nvSpPr>
          <p:cNvPr id="5" name="Text 2"/>
          <p:cNvSpPr txBox="1"/>
          <p:nvPr/>
        </p:nvSpPr>
        <p:spPr>
          <a:xfrm>
            <a:off x="479747" y="2327044"/>
            <a:ext cx="138374" cy="1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650" dirty="0"/>
          </a:p>
        </p:txBody>
      </p:sp>
      <p:sp>
        <p:nvSpPr>
          <p:cNvPr id="6" name="Text 3"/>
          <p:cNvSpPr txBox="1"/>
          <p:nvPr/>
        </p:nvSpPr>
        <p:spPr>
          <a:xfrm>
            <a:off x="674526" y="2308752"/>
            <a:ext cx="4267567" cy="26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75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Расчёт земляных работ:</a:t>
            </a:r>
            <a:r>
              <a:rPr lang="en-US" sz="75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выемка и насыпь считаются по модели, без выхода геодезиста в котлован.</a:t>
            </a:r>
            <a:endParaRPr lang="en-US" sz="750" dirty="0"/>
          </a:p>
        </p:txBody>
      </p:sp>
      <p:sp>
        <p:nvSpPr>
          <p:cNvPr id="7" name="Text 4"/>
          <p:cNvSpPr txBox="1"/>
          <p:nvPr/>
        </p:nvSpPr>
        <p:spPr>
          <a:xfrm>
            <a:off x="479747" y="2856128"/>
            <a:ext cx="138374" cy="1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650" dirty="0"/>
          </a:p>
        </p:txBody>
      </p:sp>
      <p:sp>
        <p:nvSpPr>
          <p:cNvPr id="8" name="Text 5"/>
          <p:cNvSpPr txBox="1"/>
          <p:nvPr/>
        </p:nvSpPr>
        <p:spPr>
          <a:xfrm>
            <a:off x="674526" y="2837836"/>
            <a:ext cx="3575286" cy="134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75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Складские запасы:</a:t>
            </a:r>
            <a:r>
              <a:rPr lang="en-US" sz="75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объём отвалов и штабелей материалов на площадке.</a:t>
            </a:r>
            <a:endParaRPr lang="en-US" sz="750" dirty="0"/>
          </a:p>
        </p:txBody>
      </p:sp>
      <p:sp>
        <p:nvSpPr>
          <p:cNvPr id="9" name="Text 6"/>
          <p:cNvSpPr txBox="1"/>
          <p:nvPr/>
        </p:nvSpPr>
        <p:spPr>
          <a:xfrm>
            <a:off x="479747" y="3251044"/>
            <a:ext cx="138374" cy="1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650" dirty="0"/>
          </a:p>
        </p:txBody>
      </p:sp>
      <p:sp>
        <p:nvSpPr>
          <p:cNvPr id="10" name="Text 7"/>
          <p:cNvSpPr txBox="1"/>
          <p:nvPr/>
        </p:nvSpPr>
        <p:spPr>
          <a:xfrm>
            <a:off x="674526" y="3232751"/>
            <a:ext cx="3558485" cy="134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75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Динамика по датам:</a:t>
            </a:r>
            <a:r>
              <a:rPr lang="en-US" sz="75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сравнение съёмок показывает выработку за период.</a:t>
            </a:r>
            <a:endParaRPr lang="en-US" sz="750" dirty="0"/>
          </a:p>
        </p:txBody>
      </p:sp>
      <p:sp>
        <p:nvSpPr>
          <p:cNvPr id="11" name="Text 8"/>
          <p:cNvSpPr txBox="1"/>
          <p:nvPr/>
        </p:nvSpPr>
        <p:spPr>
          <a:xfrm>
            <a:off x="479747" y="3645959"/>
            <a:ext cx="138374" cy="1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650" dirty="0"/>
          </a:p>
        </p:txBody>
      </p:sp>
      <p:sp>
        <p:nvSpPr>
          <p:cNvPr id="12" name="Text 9"/>
          <p:cNvSpPr txBox="1"/>
          <p:nvPr/>
        </p:nvSpPr>
        <p:spPr>
          <a:xfrm>
            <a:off x="674526" y="3627666"/>
            <a:ext cx="3723421" cy="134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75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Сверка с актами:</a:t>
            </a:r>
            <a:r>
              <a:rPr lang="en-US" sz="75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фактические объёмы против предъявленных подрядчиком.</a:t>
            </a:r>
            <a:endParaRPr lang="en-US" sz="750" dirty="0"/>
          </a:p>
        </p:txBody>
      </p:sp>
      <p:sp>
        <p:nvSpPr>
          <p:cNvPr id="13" name="Text 10"/>
          <p:cNvSpPr txBox="1"/>
          <p:nvPr/>
        </p:nvSpPr>
        <p:spPr>
          <a:xfrm>
            <a:off x="372256" y="4858939"/>
            <a:ext cx="446830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70" dirty="0">
                <a:solidFill>
                  <a:srgbClr val="4A54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10</a:t>
            </a:r>
            <a:endParaRPr lang="en-US" sz="6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2256" y="739786"/>
            <a:ext cx="665483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СВОДКА</a:t>
            </a:r>
            <a:endParaRPr lang="en-US" sz="680" dirty="0"/>
          </a:p>
        </p:txBody>
      </p:sp>
      <p:sp>
        <p:nvSpPr>
          <p:cNvPr id="4" name="Text 1"/>
          <p:cNvSpPr txBox="1"/>
          <p:nvPr/>
        </p:nvSpPr>
        <p:spPr>
          <a:xfrm>
            <a:off x="372256" y="991865"/>
            <a:ext cx="7901715" cy="52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60"/>
              </a:lnSpc>
              <a:buNone/>
            </a:pPr>
            <a:r>
              <a:rPr lang="en-US" sz="1870" b="1" kern="0" spc="-2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Оперативная сводка: данные реального времени для принятия решений</a:t>
            </a:r>
            <a:endParaRPr lang="en-US" sz="1870" dirty="0"/>
          </a:p>
        </p:txBody>
      </p:sp>
      <p:sp>
        <p:nvSpPr>
          <p:cNvPr id="5" name="Text 2"/>
          <p:cNvSpPr txBox="1"/>
          <p:nvPr/>
        </p:nvSpPr>
        <p:spPr>
          <a:xfrm>
            <a:off x="1760823" y="2562438"/>
            <a:ext cx="206289" cy="401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60"/>
              </a:lnSpc>
              <a:buNone/>
            </a:pPr>
            <a:r>
              <a:rPr lang="en-US" sz="3160" b="1" kern="0" spc="-60" dirty="0">
                <a:solidFill>
                  <a:srgbClr val="123C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3160" dirty="0"/>
          </a:p>
        </p:txBody>
      </p:sp>
      <p:sp>
        <p:nvSpPr>
          <p:cNvPr id="6" name="Text 3"/>
          <p:cNvSpPr txBox="1"/>
          <p:nvPr/>
        </p:nvSpPr>
        <p:spPr>
          <a:xfrm>
            <a:off x="1366436" y="2914467"/>
            <a:ext cx="956428" cy="13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90"/>
              </a:lnSpc>
              <a:buNone/>
            </a:pPr>
            <a:r>
              <a:rPr lang="en-US" sz="750" dirty="0">
                <a:solidFill>
                  <a:srgbClr val="4A5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Готовность объекта</a:t>
            </a:r>
            <a:endParaRPr lang="en-US" sz="750" dirty="0"/>
          </a:p>
        </p:txBody>
      </p:sp>
      <p:sp>
        <p:nvSpPr>
          <p:cNvPr id="7" name="Text 4"/>
          <p:cNvSpPr txBox="1"/>
          <p:nvPr/>
        </p:nvSpPr>
        <p:spPr>
          <a:xfrm>
            <a:off x="3643759" y="1848150"/>
            <a:ext cx="1503532" cy="13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0"/>
              </a:lnSpc>
              <a:buNone/>
            </a:pPr>
            <a:r>
              <a:rPr lang="en-US" sz="75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Монтаж металлоконструкций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8491128" y="1838518"/>
            <a:ext cx="212087" cy="152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30" b="1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82%</a:t>
            </a:r>
            <a:endParaRPr lang="en-US" sz="830" dirty="0"/>
          </a:p>
        </p:txBody>
      </p:sp>
      <p:sp>
        <p:nvSpPr>
          <p:cNvPr id="9" name="Text 6"/>
          <p:cNvSpPr txBox="1"/>
          <p:nvPr/>
        </p:nvSpPr>
        <p:spPr>
          <a:xfrm>
            <a:off x="3643759" y="2402349"/>
            <a:ext cx="1537371" cy="13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0"/>
              </a:lnSpc>
              <a:buNone/>
            </a:pPr>
            <a:r>
              <a:rPr lang="en-US" sz="75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Монтаж фасадных элементов</a:t>
            </a:r>
            <a:endParaRPr lang="en-US" sz="750" dirty="0"/>
          </a:p>
        </p:txBody>
      </p:sp>
      <p:sp>
        <p:nvSpPr>
          <p:cNvPr id="10" name="Text 7"/>
          <p:cNvSpPr txBox="1"/>
          <p:nvPr/>
        </p:nvSpPr>
        <p:spPr>
          <a:xfrm>
            <a:off x="8491128" y="2392717"/>
            <a:ext cx="212087" cy="152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30" b="1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54%</a:t>
            </a:r>
            <a:endParaRPr lang="en-US" sz="830" dirty="0"/>
          </a:p>
        </p:txBody>
      </p:sp>
      <p:sp>
        <p:nvSpPr>
          <p:cNvPr id="11" name="Text 8"/>
          <p:cNvSpPr txBox="1"/>
          <p:nvPr/>
        </p:nvSpPr>
        <p:spPr>
          <a:xfrm>
            <a:off x="3643759" y="2956548"/>
            <a:ext cx="1579374" cy="13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0"/>
              </a:lnSpc>
              <a:buNone/>
            </a:pPr>
            <a:r>
              <a:rPr lang="en-US" sz="75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Устройство инженерных сетей</a:t>
            </a:r>
            <a:endParaRPr lang="en-US" sz="750" dirty="0"/>
          </a:p>
        </p:txBody>
      </p:sp>
      <p:sp>
        <p:nvSpPr>
          <p:cNvPr id="12" name="Text 9"/>
          <p:cNvSpPr txBox="1"/>
          <p:nvPr/>
        </p:nvSpPr>
        <p:spPr>
          <a:xfrm>
            <a:off x="8491128" y="2946915"/>
            <a:ext cx="212087" cy="152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30" b="1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41%</a:t>
            </a:r>
            <a:endParaRPr lang="en-US" sz="830" dirty="0"/>
          </a:p>
        </p:txBody>
      </p:sp>
      <p:sp>
        <p:nvSpPr>
          <p:cNvPr id="13" name="Text 10"/>
          <p:cNvSpPr txBox="1"/>
          <p:nvPr/>
        </p:nvSpPr>
        <p:spPr>
          <a:xfrm>
            <a:off x="3643759" y="3510746"/>
            <a:ext cx="1760401" cy="13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0"/>
              </a:lnSpc>
              <a:buNone/>
            </a:pPr>
            <a:r>
              <a:rPr lang="en-US" sz="75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Календарный график: отклонение</a:t>
            </a:r>
            <a:endParaRPr lang="en-US" sz="750" dirty="0"/>
          </a:p>
        </p:txBody>
      </p:sp>
      <p:sp>
        <p:nvSpPr>
          <p:cNvPr id="14" name="Text 11"/>
          <p:cNvSpPr txBox="1"/>
          <p:nvPr/>
        </p:nvSpPr>
        <p:spPr>
          <a:xfrm>
            <a:off x="8260296" y="3501114"/>
            <a:ext cx="456769" cy="152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30" b="1" dirty="0">
                <a:solidFill>
                  <a:srgbClr val="FF6B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+5 дней</a:t>
            </a:r>
            <a:endParaRPr lang="en-US" sz="830" dirty="0"/>
          </a:p>
        </p:txBody>
      </p:sp>
      <p:sp>
        <p:nvSpPr>
          <p:cNvPr id="15" name="Text 12"/>
          <p:cNvSpPr txBox="1"/>
          <p:nvPr/>
        </p:nvSpPr>
        <p:spPr>
          <a:xfrm>
            <a:off x="1252582" y="4111249"/>
            <a:ext cx="2384175" cy="130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30"/>
              </a:lnSpc>
              <a:buNone/>
            </a:pPr>
            <a:r>
              <a:rPr lang="en-US" sz="790" b="1" dirty="0">
                <a:solidFill>
                  <a:srgbClr val="F5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Освоение строительных материалов — 72%</a:t>
            </a:r>
            <a:endParaRPr lang="en-US" sz="790" dirty="0"/>
          </a:p>
        </p:txBody>
      </p:sp>
      <p:sp>
        <p:nvSpPr>
          <p:cNvPr id="16" name="Text 13"/>
          <p:cNvSpPr txBox="1"/>
          <p:nvPr/>
        </p:nvSpPr>
        <p:spPr>
          <a:xfrm>
            <a:off x="5538489" y="4111249"/>
            <a:ext cx="2321348" cy="130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30"/>
              </a:lnSpc>
              <a:buNone/>
            </a:pPr>
            <a:r>
              <a:rPr lang="en-US" sz="790" b="1" dirty="0">
                <a:solidFill>
                  <a:srgbClr val="F5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Сводка обновляется после каждого облёта</a:t>
            </a:r>
            <a:endParaRPr lang="en-US" sz="790" dirty="0"/>
          </a:p>
        </p:txBody>
      </p:sp>
      <p:sp>
        <p:nvSpPr>
          <p:cNvPr id="17" name="Text 14"/>
          <p:cNvSpPr txBox="1"/>
          <p:nvPr/>
        </p:nvSpPr>
        <p:spPr>
          <a:xfrm>
            <a:off x="372256" y="4858939"/>
            <a:ext cx="446830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70" dirty="0">
                <a:solidFill>
                  <a:srgbClr val="4A54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10</a:t>
            </a:r>
            <a:endParaRPr lang="en-US" sz="6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2256" y="1069292"/>
            <a:ext cx="665483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ЭФФЕКТ</a:t>
            </a:r>
            <a:endParaRPr lang="en-US" sz="680" dirty="0"/>
          </a:p>
        </p:txBody>
      </p:sp>
      <p:sp>
        <p:nvSpPr>
          <p:cNvPr id="4" name="Text 1"/>
          <p:cNvSpPr txBox="1"/>
          <p:nvPr/>
        </p:nvSpPr>
        <p:spPr>
          <a:xfrm>
            <a:off x="372256" y="1321371"/>
            <a:ext cx="8118829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60"/>
              </a:lnSpc>
              <a:buNone/>
            </a:pPr>
            <a:r>
              <a:rPr lang="en-US" sz="1870" b="1" kern="0" spc="-2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Автоматизация контроля кардинально снижает риски и издержки</a:t>
            </a:r>
            <a:endParaRPr lang="en-US" sz="1870" dirty="0"/>
          </a:p>
        </p:txBody>
      </p:sp>
      <p:sp>
        <p:nvSpPr>
          <p:cNvPr id="5" name="Text 2"/>
          <p:cNvSpPr txBox="1"/>
          <p:nvPr/>
        </p:nvSpPr>
        <p:spPr>
          <a:xfrm>
            <a:off x="372256" y="1725327"/>
            <a:ext cx="94992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20"/>
              </a:lnSpc>
              <a:buNone/>
            </a:pPr>
            <a:r>
              <a:rPr lang="en-US" sz="2730" b="1" kern="0" spc="-50" dirty="0">
                <a:solidFill>
                  <a:srgbClr val="123C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−80%</a:t>
            </a:r>
            <a:endParaRPr lang="en-US" sz="2730" dirty="0"/>
          </a:p>
        </p:txBody>
      </p:sp>
      <p:sp>
        <p:nvSpPr>
          <p:cNvPr id="6" name="Text 3"/>
          <p:cNvSpPr txBox="1"/>
          <p:nvPr/>
        </p:nvSpPr>
        <p:spPr>
          <a:xfrm>
            <a:off x="372256" y="2273131"/>
            <a:ext cx="2688253" cy="291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79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Время на инспекцию объекта.</a:t>
            </a:r>
            <a:r>
              <a:rPr lang="en-US" sz="79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Облёт вместо пеших обходов и ручных замеров.</a:t>
            </a:r>
            <a:endParaRPr lang="en-US" sz="790" dirty="0"/>
          </a:p>
        </p:txBody>
      </p:sp>
      <p:sp>
        <p:nvSpPr>
          <p:cNvPr id="7" name="Text 4"/>
          <p:cNvSpPr txBox="1"/>
          <p:nvPr/>
        </p:nvSpPr>
        <p:spPr>
          <a:xfrm>
            <a:off x="3245048" y="1725327"/>
            <a:ext cx="71494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20"/>
              </a:lnSpc>
              <a:buNone/>
            </a:pPr>
            <a:r>
              <a:rPr lang="en-US" sz="2730" b="1" kern="0" spc="-50" dirty="0">
                <a:solidFill>
                  <a:srgbClr val="123C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</a:t>
            </a:r>
            <a:endParaRPr lang="en-US" sz="2730" dirty="0"/>
          </a:p>
        </p:txBody>
      </p:sp>
      <p:sp>
        <p:nvSpPr>
          <p:cNvPr id="8" name="Text 5"/>
          <p:cNvSpPr txBox="1"/>
          <p:nvPr/>
        </p:nvSpPr>
        <p:spPr>
          <a:xfrm>
            <a:off x="3245048" y="2273131"/>
            <a:ext cx="2734871" cy="291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79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Обновление цифрового двойника.</a:t>
            </a:r>
            <a:r>
              <a:rPr lang="en-US" sz="79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Ежедневно и без присутствия людей.</a:t>
            </a:r>
            <a:endParaRPr lang="en-US" sz="790" dirty="0"/>
          </a:p>
        </p:txBody>
      </p:sp>
      <p:sp>
        <p:nvSpPr>
          <p:cNvPr id="9" name="Text 6"/>
          <p:cNvSpPr txBox="1"/>
          <p:nvPr/>
        </p:nvSpPr>
        <p:spPr>
          <a:xfrm>
            <a:off x="6117952" y="1725327"/>
            <a:ext cx="93974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20"/>
              </a:lnSpc>
              <a:buNone/>
            </a:pPr>
            <a:r>
              <a:rPr lang="en-US" sz="2730" b="1" kern="0" spc="-50" dirty="0">
                <a:solidFill>
                  <a:srgbClr val="123C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730" dirty="0"/>
          </a:p>
        </p:txBody>
      </p:sp>
      <p:sp>
        <p:nvSpPr>
          <p:cNvPr id="10" name="Text 7"/>
          <p:cNvSpPr txBox="1"/>
          <p:nvPr/>
        </p:nvSpPr>
        <p:spPr>
          <a:xfrm>
            <a:off x="6117952" y="2273131"/>
            <a:ext cx="2833075" cy="145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79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Прозрачность.</a:t>
            </a:r>
            <a:r>
              <a:rPr lang="en-US" sz="79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Для заказчика, подрядчика и инвестора.</a:t>
            </a:r>
            <a:endParaRPr lang="en-US" sz="790" dirty="0"/>
          </a:p>
        </p:txBody>
      </p:sp>
      <p:sp>
        <p:nvSpPr>
          <p:cNvPr id="11" name="Text 8"/>
          <p:cNvSpPr txBox="1"/>
          <p:nvPr/>
        </p:nvSpPr>
        <p:spPr>
          <a:xfrm>
            <a:off x="318606" y="3651147"/>
            <a:ext cx="8506677" cy="261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30"/>
              </a:lnSpc>
              <a:buNone/>
            </a:pPr>
            <a:r>
              <a:rPr lang="en-US" sz="790" b="1" dirty="0">
                <a:solidFill>
                  <a:srgbClr val="F5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 обеспечивает автоматический расчёт строительной готовности и практически полностью исключает человеческий фактор при контроле выполнения работ</a:t>
            </a:r>
            <a:endParaRPr lang="en-US" sz="790" dirty="0"/>
          </a:p>
        </p:txBody>
      </p:sp>
      <p:sp>
        <p:nvSpPr>
          <p:cNvPr id="12" name="Text 9"/>
          <p:cNvSpPr txBox="1"/>
          <p:nvPr/>
        </p:nvSpPr>
        <p:spPr>
          <a:xfrm>
            <a:off x="372256" y="4858939"/>
            <a:ext cx="446830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70" dirty="0">
                <a:solidFill>
                  <a:srgbClr val="4A54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10</a:t>
            </a:r>
            <a:endParaRPr lang="en-US" sz="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561</Words>
  <Application>Microsoft Office PowerPoint</Application>
  <PresentationFormat>Экран (16:9)</PresentationFormat>
  <Paragraphs>126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Arial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UNB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Автономный мониторинг строительной площадки — UNB Group</dc:title>
  <dc:subject>PptxGenJS Presentation</dc:subject>
  <dc:creator>PptxGenJS</dc:creator>
  <cp:lastModifiedBy>Amir Sh</cp:lastModifiedBy>
  <cp:revision>2</cp:revision>
  <dcterms:created xsi:type="dcterms:W3CDTF">2026-10-04T14:13:55Z</dcterms:created>
  <dcterms:modified xsi:type="dcterms:W3CDTF">2026-10-04T14:14:38Z</dcterms:modified>
</cp:coreProperties>
</file>