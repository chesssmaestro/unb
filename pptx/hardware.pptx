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47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959233"/>
            <a:ext cx="60762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ТИТУЛ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204168"/>
            <a:ext cx="3927757" cy="115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800" b="1" kern="0" spc="-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Комплексные поставки БПЛА и энергооборудования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54757" y="2492735"/>
            <a:ext cx="3310135" cy="5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9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экосистема автономного мониторинга и выполнения задач для промышленности, агросектора и строительства.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3099953"/>
            <a:ext cx="3268250" cy="3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9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«под ключ»: дроны + док-станции + энергия + сервис.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507206" y="3713348"/>
            <a:ext cx="1619720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Индивидуальный подбор:</a:t>
            </a:r>
            <a:endParaRPr lang="en-US" sz="900" dirty="0"/>
          </a:p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аудита до внедрения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935447" y="1446514"/>
            <a:ext cx="671990" cy="3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BATTERY: 100%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RTK: FIXED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DEPLOYED</a:t>
            </a:r>
            <a:endParaRPr lang="en-US" sz="470" dirty="0"/>
          </a:p>
        </p:txBody>
      </p:sp>
      <p:sp>
        <p:nvSpPr>
          <p:cNvPr id="9" name="Text 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07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319086"/>
            <a:ext cx="124453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ПОЗИЦИОНИРОВАНИЕ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571165"/>
            <a:ext cx="6162554" cy="591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парадигмы: от разрозненных закупок</a:t>
            </a:r>
            <a:endParaRPr lang="en-US" sz="2080" dirty="0"/>
          </a:p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единому интегратору</a:t>
            </a:r>
            <a:endParaRPr lang="en-US" sz="208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1375318"/>
            <a:ext cx="1070723" cy="11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50" kern="0" spc="50" dirty="0">
                <a:solidFill>
                  <a:srgbClr val="F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ТРАДИЦИОННЫЙ ПОДХОД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470595" y="3927299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598847" y="3923727"/>
            <a:ext cx="2451498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техники из-за нехватки энергии в полях.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470595" y="4145518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598847" y="4141946"/>
            <a:ext cx="2523199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Конфликты ПО и несовместимость оборудования.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470595" y="4363738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598847" y="4360166"/>
            <a:ext cx="3594454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гарантий на комплексную работу — перевод стрелок между поставщиками.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4770686" y="1375318"/>
            <a:ext cx="1015823" cy="11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50" kern="0" spc="50" dirty="0">
                <a:solidFill>
                  <a:srgbClr val="F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 «ПОД КЛЮЧ»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4761533" y="3927411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4909765" y="3923839"/>
            <a:ext cx="3542867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Непрерывность: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совместимость БПЛА и зарядных комплексов.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4761533" y="4145630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909765" y="4142058"/>
            <a:ext cx="2389026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Автономность: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работа вдали от электросетей.</a:t>
            </a:r>
            <a:endParaRPr lang="en-US" sz="790" dirty="0"/>
          </a:p>
        </p:txBody>
      </p:sp>
      <p:sp>
        <p:nvSpPr>
          <p:cNvPr id="17" name="Text 14"/>
          <p:cNvSpPr txBox="1"/>
          <p:nvPr/>
        </p:nvSpPr>
        <p:spPr>
          <a:xfrm>
            <a:off x="4761533" y="4363849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8" name="Text 15"/>
          <p:cNvSpPr txBox="1"/>
          <p:nvPr/>
        </p:nvSpPr>
        <p:spPr>
          <a:xfrm>
            <a:off x="4909765" y="4360277"/>
            <a:ext cx="357138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Единое окно: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один договор на аудит, поставку, пусконаладку и ремонт.</a:t>
            </a:r>
            <a:endParaRPr lang="en-US" sz="790" dirty="0"/>
          </a:p>
        </p:txBody>
      </p:sp>
      <p:sp>
        <p:nvSpPr>
          <p:cNvPr id="19" name="Text 1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07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720922"/>
            <a:ext cx="1418224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АРХИТЕКТУРА РЕШЕНИЯ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973001"/>
            <a:ext cx="3472467" cy="591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Бесшовная интеграция</a:t>
            </a:r>
            <a:endParaRPr lang="en-US" sz="2080" dirty="0"/>
          </a:p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ваши бизнес-процессы</a:t>
            </a:r>
            <a:endParaRPr lang="en-US" sz="2080" dirty="0"/>
          </a:p>
        </p:txBody>
      </p:sp>
      <p:sp>
        <p:nvSpPr>
          <p:cNvPr id="5" name="Text 2"/>
          <p:cNvSpPr txBox="1"/>
          <p:nvPr/>
        </p:nvSpPr>
        <p:spPr>
          <a:xfrm>
            <a:off x="470595" y="3038656"/>
            <a:ext cx="805572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Исполнение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470595" y="3181247"/>
            <a:ext cx="1588958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Промышленные БПЛА</a:t>
            </a:r>
            <a:endParaRPr lang="en-US" sz="1040" dirty="0"/>
          </a:p>
        </p:txBody>
      </p:sp>
      <p:sp>
        <p:nvSpPr>
          <p:cNvPr id="7" name="Text 4"/>
          <p:cNvSpPr txBox="1"/>
          <p:nvPr/>
        </p:nvSpPr>
        <p:spPr>
          <a:xfrm>
            <a:off x="470595" y="3374621"/>
            <a:ext cx="1542458" cy="4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Мониторинг, картография, опрыскивание, тепловизионный контроль.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2602334" y="3038768"/>
            <a:ext cx="960924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Автоматизация</a:t>
            </a:r>
            <a:endParaRPr lang="en-US" sz="610" dirty="0"/>
          </a:p>
        </p:txBody>
      </p:sp>
      <p:sp>
        <p:nvSpPr>
          <p:cNvPr id="9" name="Text 6"/>
          <p:cNvSpPr txBox="1"/>
          <p:nvPr/>
        </p:nvSpPr>
        <p:spPr>
          <a:xfrm>
            <a:off x="2602334" y="3181359"/>
            <a:ext cx="885910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Док-станции</a:t>
            </a:r>
            <a:endParaRPr lang="en-US" sz="1040" dirty="0"/>
          </a:p>
        </p:txBody>
      </p:sp>
      <p:sp>
        <p:nvSpPr>
          <p:cNvPr id="10" name="Text 7"/>
          <p:cNvSpPr txBox="1"/>
          <p:nvPr/>
        </p:nvSpPr>
        <p:spPr>
          <a:xfrm>
            <a:off x="2602334" y="3374733"/>
            <a:ext cx="1792347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Укрытие, зарядка и передача данных без участия пилота.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34185" y="3038768"/>
            <a:ext cx="650220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Питание</a:t>
            </a:r>
            <a:endParaRPr lang="en-US" sz="610" dirty="0"/>
          </a:p>
        </p:txBody>
      </p:sp>
      <p:sp>
        <p:nvSpPr>
          <p:cNvPr id="12" name="Text 9"/>
          <p:cNvSpPr txBox="1"/>
          <p:nvPr/>
        </p:nvSpPr>
        <p:spPr>
          <a:xfrm>
            <a:off x="4734185" y="3181359"/>
            <a:ext cx="1496788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Энергооборудование</a:t>
            </a:r>
            <a:endParaRPr lang="en-US" sz="1040" dirty="0"/>
          </a:p>
        </p:txBody>
      </p:sp>
      <p:sp>
        <p:nvSpPr>
          <p:cNvPr id="13" name="Text 10"/>
          <p:cNvSpPr txBox="1"/>
          <p:nvPr/>
        </p:nvSpPr>
        <p:spPr>
          <a:xfrm>
            <a:off x="4734185" y="3374733"/>
            <a:ext cx="1820270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и основные источники для работы 24/7 в чистом поле.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6866037" y="3038768"/>
            <a:ext cx="805572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Надёжность</a:t>
            </a:r>
            <a:endParaRPr lang="en-US" sz="610" dirty="0"/>
          </a:p>
        </p:txBody>
      </p:sp>
      <p:sp>
        <p:nvSpPr>
          <p:cNvPr id="15" name="Text 12"/>
          <p:cNvSpPr txBox="1"/>
          <p:nvPr/>
        </p:nvSpPr>
        <p:spPr>
          <a:xfrm>
            <a:off x="6866037" y="3181359"/>
            <a:ext cx="972282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и SLA</a:t>
            </a:r>
            <a:endParaRPr lang="en-US" sz="1040" dirty="0"/>
          </a:p>
        </p:txBody>
      </p:sp>
      <p:sp>
        <p:nvSpPr>
          <p:cNvPr id="16" name="Text 13"/>
          <p:cNvSpPr txBox="1"/>
          <p:nvPr/>
        </p:nvSpPr>
        <p:spPr>
          <a:xfrm>
            <a:off x="6866037" y="3374733"/>
            <a:ext cx="1475254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Обучение, пусконаладка, ТО и подменный фонд.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1786668" y="4115693"/>
            <a:ext cx="1316115" cy="14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0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рисков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763886" y="4115693"/>
            <a:ext cx="1870555" cy="14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0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Непрерывность производства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07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457050"/>
            <a:ext cx="130239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ВОЗДУШНЫЙ СЕГМЕНТ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165882"/>
            <a:ext cx="4450960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Промышленные БПЛА:</a:t>
            </a:r>
            <a:endParaRPr lang="en-US" sz="2080" dirty="0"/>
          </a:p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подбор под отраслевую задачу</a:t>
            </a:r>
            <a:endParaRPr lang="en-US" sz="208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29389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275977"/>
            <a:ext cx="3180576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Кастомная полезная нагрузка: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тепловизоры, лидары (LiDAR), мультиспектральные камеры и системы сброса.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83592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818009"/>
            <a:ext cx="4031995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Агро-решения: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тяжёлые дроны с баками до 50 л, точное дифференцированное внесение (VRA).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37795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360041"/>
            <a:ext cx="3886227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и безопасность: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выявление утечек тепла, контроль периметра, инвентаризация складов и земельного банка.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91998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902073"/>
            <a:ext cx="4018507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до сантиметра (RTK):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отсутствие слепых зон и перекрытий, работа в сложном рельефе.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7935447" y="988868"/>
            <a:ext cx="671990" cy="20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DETECTION: ON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GSD: 1.2 CM/PX</a:t>
            </a:r>
            <a:endParaRPr lang="en-US" sz="470" dirty="0"/>
          </a:p>
        </p:txBody>
      </p:sp>
      <p:sp>
        <p:nvSpPr>
          <p:cNvPr id="14" name="Text 11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07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847835"/>
            <a:ext cx="1070841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АВТОМАТИЗАЦИЯ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099914"/>
            <a:ext cx="597383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Докинг-станции: полная автономность 24/7</a:t>
            </a:r>
            <a:endParaRPr lang="en-US" sz="2080" dirty="0"/>
          </a:p>
        </p:txBody>
      </p:sp>
      <p:sp>
        <p:nvSpPr>
          <p:cNvPr id="5" name="Text 2"/>
          <p:cNvSpPr txBox="1"/>
          <p:nvPr/>
        </p:nvSpPr>
        <p:spPr>
          <a:xfrm>
            <a:off x="3708468" y="1597872"/>
            <a:ext cx="671990" cy="20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SCHEDULED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UPLINK: 4G / ETH</a:t>
            </a:r>
            <a:endParaRPr lang="en-US" sz="47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330707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74526" y="3289161"/>
            <a:ext cx="3619656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без пилота: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автоматический взлёт, посадка, зарядка и выгрузка данных по расписанию.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4725033" y="330707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4919811" y="3289161"/>
            <a:ext cx="3942783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Удалённый контроль: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управление миссиями из центрального офиса в любой точке мира.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479747" y="385815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74526" y="3840235"/>
            <a:ext cx="3989282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Климатическая защита: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подогрев и охлаждение батарей, класс защиты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IP55+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работа от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 °C до +50 °C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4725033" y="385815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4919811" y="3840235"/>
            <a:ext cx="3586053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Масштабируемость: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объединение станций в сеть для патрулирования протяжённых объектов — ЛЭП, трубопроводов.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07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89991"/>
            <a:ext cx="89715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ЭНЕРГЕТИКА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842070"/>
            <a:ext cx="80109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Энергооборудование: независимость от инфраструктуры</a:t>
            </a:r>
            <a:endParaRPr lang="en-US" sz="2080" dirty="0"/>
          </a:p>
        </p:txBody>
      </p:sp>
      <p:sp>
        <p:nvSpPr>
          <p:cNvPr id="5" name="Text 2"/>
          <p:cNvSpPr txBox="1"/>
          <p:nvPr/>
        </p:nvSpPr>
        <p:spPr>
          <a:xfrm>
            <a:off x="470595" y="2962740"/>
            <a:ext cx="2182442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отсутствие сети на удалённом объекте.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081970" y="2190253"/>
            <a:ext cx="113764" cy="2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5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370176" y="2962740"/>
            <a:ext cx="228301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мобильные аккумуляторные станции сверхвысокой ёмкости.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981551" y="2190253"/>
            <a:ext cx="113764" cy="2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5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69757" y="2962851"/>
            <a:ext cx="2401095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непрерывный производственный цикл 24/7 в чистом поле.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479747" y="356492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74526" y="3547006"/>
            <a:ext cx="3870964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Интеллектуальная зарядка: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зарядные комплексы с активным охлаждением — защита батарей от деградации.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4725033" y="356492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4919811" y="3547006"/>
            <a:ext cx="3843869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Резервное питание (UPS):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защита базовых станций RTK и доков от скачков напряжения.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479747" y="4115996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674526" y="4098079"/>
            <a:ext cx="3727089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Мобильные энергоблоки: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многократная зарядка тяжёлых БПЛА в полях.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725033" y="4115996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4919811" y="4098079"/>
            <a:ext cx="3371542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Гибридные решения: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интеграция АКБ с генераторами для недель непрерывной работы.</a:t>
            </a:r>
            <a:endParaRPr lang="en-US" sz="790" dirty="0"/>
          </a:p>
        </p:txBody>
      </p:sp>
      <p:sp>
        <p:nvSpPr>
          <p:cNvPr id="18" name="Text 15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07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104899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СЕРВИС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56978"/>
            <a:ext cx="4708776" cy="591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SLA:</a:t>
            </a:r>
            <a:endParaRPr lang="en-US" sz="2080" dirty="0"/>
          </a:p>
          <a:p>
            <a:pPr marL="0" indent="0" algn="l">
              <a:lnSpc>
                <a:spcPts val="2290"/>
              </a:lnSpc>
              <a:buNone/>
            </a:pPr>
            <a:r>
              <a:rPr lang="en-US" sz="208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простоев как стандарт</a:t>
            </a:r>
            <a:endParaRPr lang="en-US" sz="208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2093342"/>
            <a:ext cx="135871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3160" b="1" kern="0" spc="-6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дней</a:t>
            </a:r>
            <a:endParaRPr lang="en-US" sz="3160" dirty="0"/>
          </a:p>
        </p:txBody>
      </p:sp>
      <p:sp>
        <p:nvSpPr>
          <p:cNvPr id="6" name="Text 3"/>
          <p:cNvSpPr txBox="1"/>
          <p:nvPr/>
        </p:nvSpPr>
        <p:spPr>
          <a:xfrm>
            <a:off x="372256" y="2697665"/>
            <a:ext cx="2602946" cy="30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Простоя.</a:t>
            </a: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Подменный фонд — горячая замена на время сложного ремонта.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3245048" y="2093342"/>
            <a:ext cx="108362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3160" b="1" kern="0" spc="-6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160" dirty="0"/>
          </a:p>
        </p:txBody>
      </p:sp>
      <p:sp>
        <p:nvSpPr>
          <p:cNvPr id="8" name="Text 5"/>
          <p:cNvSpPr txBox="1"/>
          <p:nvPr/>
        </p:nvSpPr>
        <p:spPr>
          <a:xfrm>
            <a:off x="3245048" y="2697665"/>
            <a:ext cx="2512432" cy="45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к работе.</a:t>
            </a: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Шеф-монтаж, пусконаладочные работы и интеграция ПО в IT-контур.</a:t>
            </a:r>
            <a:endParaRPr lang="en-US" sz="830" dirty="0"/>
          </a:p>
        </p:txBody>
      </p:sp>
      <p:sp>
        <p:nvSpPr>
          <p:cNvPr id="9" name="Text 6"/>
          <p:cNvSpPr txBox="1"/>
          <p:nvPr/>
        </p:nvSpPr>
        <p:spPr>
          <a:xfrm>
            <a:off x="6117952" y="2093342"/>
            <a:ext cx="152376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3160" b="1" kern="0" spc="-6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часа</a:t>
            </a:r>
            <a:endParaRPr lang="en-US" sz="3160" dirty="0"/>
          </a:p>
        </p:txBody>
      </p:sp>
      <p:sp>
        <p:nvSpPr>
          <p:cNvPr id="10" name="Text 7"/>
          <p:cNvSpPr txBox="1"/>
          <p:nvPr/>
        </p:nvSpPr>
        <p:spPr>
          <a:xfrm>
            <a:off x="6117952" y="2697665"/>
            <a:ext cx="2416831" cy="30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SLA.</a:t>
            </a: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Оперативное реагирование технической поддержки и выездных инженеров.</a:t>
            </a:r>
            <a:endParaRPr lang="en-US" sz="830" dirty="0"/>
          </a:p>
        </p:txBody>
      </p:sp>
      <p:sp>
        <p:nvSpPr>
          <p:cNvPr id="11" name="Text 8"/>
          <p:cNvSpPr txBox="1"/>
          <p:nvPr/>
        </p:nvSpPr>
        <p:spPr>
          <a:xfrm>
            <a:off x="372256" y="3341016"/>
            <a:ext cx="4941272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персонала:</a:t>
            </a: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подготовка ваших операторов на базе нашего учебного центра.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799593" y="3731605"/>
            <a:ext cx="5544814" cy="14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0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инвестиций: гарантия работоспособности оборудования на всём жизненном цикле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Экран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Комплексные поставки БПЛА и энергооборудования — UNB Group</dc:title>
  <dc:subject>PptxGenJS Presentation</dc:subject>
  <dc:creator>PptxGenJS</dc:creator>
  <cp:lastModifiedBy>Amir Sh</cp:lastModifiedBy>
  <cp:revision>2</cp:revision>
  <dcterms:created xsi:type="dcterms:W3CDTF">2026-10-04T14:14:08Z</dcterms:created>
  <dcterms:modified xsi:type="dcterms:W3CDTF">2026-10-04T14:14:43Z</dcterms:modified>
</cp:coreProperties>
</file>