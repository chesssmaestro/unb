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5143500" cy="9144000"/>
  <p:embeddedFontLst>
    <p:embeddedFont>
      <p:font typeface="Consolas" panose="020B0609020204030204" pitchFamily="49" charset="0"/>
      <p:regular r:id="rId16"/>
      <p:bold r:id="rId17"/>
      <p:italic r:id="rId18"/>
      <p:boldItalic r:id="rId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96498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1137157"/>
            <a:ext cx="607625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ТИТУЛ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389236"/>
            <a:ext cx="3615988" cy="10007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90"/>
              </a:lnSpc>
              <a:buNone/>
            </a:pPr>
            <a:r>
              <a:rPr lang="en-US" sz="244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Интеллектуальные решения для солнечной энергетики</a:t>
            </a:r>
            <a:endParaRPr lang="en-US" sz="2440" dirty="0"/>
          </a:p>
        </p:txBody>
      </p:sp>
      <p:sp>
        <p:nvSpPr>
          <p:cNvPr id="5" name="Text 2"/>
          <p:cNvSpPr txBox="1"/>
          <p:nvPr/>
        </p:nvSpPr>
        <p:spPr>
          <a:xfrm>
            <a:off x="554757" y="2528638"/>
            <a:ext cx="2546745" cy="330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Эволюция O&amp;M на базе автономных БПЛА и искусственного интеллекта.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54757" y="2950454"/>
            <a:ext cx="2745283" cy="3307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90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платформа: сбор данных, AI-аналитика, планирование и контроль ремонтов.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07206" y="3550111"/>
            <a:ext cx="1622442" cy="284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20"/>
              </a:lnSpc>
              <a:buNone/>
            </a:pPr>
            <a:r>
              <a:rPr lang="en-US" sz="86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Точность AI-распознавания</a:t>
            </a:r>
            <a:endParaRPr lang="en-US" sz="860" dirty="0"/>
          </a:p>
          <a:p>
            <a:pPr marL="0" indent="0" algn="l">
              <a:lnSpc>
                <a:spcPts val="1120"/>
              </a:lnSpc>
              <a:buNone/>
            </a:pPr>
            <a:r>
              <a:rPr lang="en-US" sz="86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95%+</a:t>
            </a:r>
            <a:endParaRPr lang="en-US" sz="860" dirty="0"/>
          </a:p>
        </p:txBody>
      </p:sp>
      <p:sp>
        <p:nvSpPr>
          <p:cNvPr id="8" name="Text 5"/>
          <p:cNvSpPr txBox="1"/>
          <p:nvPr/>
        </p:nvSpPr>
        <p:spPr>
          <a:xfrm>
            <a:off x="8015904" y="1446514"/>
            <a:ext cx="591534" cy="3073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810"/>
              </a:lnSpc>
              <a:buNone/>
            </a:pPr>
            <a:r>
              <a:rPr lang="en-US" sz="470" kern="0" spc="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SCANNING…</a:t>
            </a:r>
            <a:endParaRPr lang="en-US" sz="470" dirty="0"/>
          </a:p>
          <a:p>
            <a:pPr marL="0" indent="0" algn="r">
              <a:lnSpc>
                <a:spcPts val="810"/>
              </a:lnSpc>
              <a:buNone/>
            </a:pPr>
            <a:r>
              <a:rPr lang="en-US" sz="470" kern="0" spc="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COVERAGE: 100%</a:t>
            </a:r>
            <a:endParaRPr lang="en-US" sz="470" dirty="0"/>
          </a:p>
          <a:p>
            <a:pPr marL="0" indent="0" algn="r">
              <a:lnSpc>
                <a:spcPts val="810"/>
              </a:lnSpc>
              <a:buNone/>
            </a:pPr>
            <a:r>
              <a:rPr lang="en-US" sz="470" kern="0" spc="4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MODE: AUTO</a:t>
            </a:r>
            <a:endParaRPr lang="en-US" sz="470" dirty="0"/>
          </a:p>
        </p:txBody>
      </p:sp>
      <p:sp>
        <p:nvSpPr>
          <p:cNvPr id="9" name="Text 6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/ 13</a:t>
            </a:r>
            <a:endParaRPr lang="en-US" sz="6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298660"/>
            <a:ext cx="781316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ПРОБЛЕМА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550738"/>
            <a:ext cx="8718112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 солнечных парков делает ручной контроль неэффективным</a:t>
            </a:r>
            <a:endParaRPr lang="en-US" sz="1870" dirty="0"/>
          </a:p>
        </p:txBody>
      </p:sp>
      <p:sp>
        <p:nvSpPr>
          <p:cNvPr id="5" name="Text 2"/>
          <p:cNvSpPr txBox="1"/>
          <p:nvPr/>
        </p:nvSpPr>
        <p:spPr>
          <a:xfrm>
            <a:off x="543595" y="2389094"/>
            <a:ext cx="547756" cy="10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0"/>
              </a:lnSpc>
              <a:buNone/>
            </a:pPr>
            <a:r>
              <a:rPr lang="en-US" sz="580" kern="0" spc="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СЛЕПЫЕ ЗОНЫ</a:t>
            </a:r>
            <a:endParaRPr lang="en-US" sz="580" dirty="0"/>
          </a:p>
        </p:txBody>
      </p:sp>
      <p:sp>
        <p:nvSpPr>
          <p:cNvPr id="6" name="Text 3"/>
          <p:cNvSpPr txBox="1"/>
          <p:nvPr/>
        </p:nvSpPr>
        <p:spPr>
          <a:xfrm>
            <a:off x="470595" y="2572136"/>
            <a:ext cx="2434579" cy="127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7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Большие территории и сложная география объектов.</a:t>
            </a:r>
            <a:endParaRPr lang="en-US" sz="720" dirty="0"/>
          </a:p>
        </p:txBody>
      </p:sp>
      <p:sp>
        <p:nvSpPr>
          <p:cNvPr id="7" name="Text 4"/>
          <p:cNvSpPr txBox="1"/>
          <p:nvPr/>
        </p:nvSpPr>
        <p:spPr>
          <a:xfrm>
            <a:off x="4798033" y="2389206"/>
            <a:ext cx="689383" cy="10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0"/>
              </a:lnSpc>
              <a:buNone/>
            </a:pPr>
            <a:r>
              <a:rPr lang="en-US" sz="580" kern="0" spc="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ПОТЕРЯ ВРЕМЕНИ</a:t>
            </a:r>
            <a:endParaRPr lang="en-US" sz="580" dirty="0"/>
          </a:p>
        </p:txBody>
      </p:sp>
      <p:sp>
        <p:nvSpPr>
          <p:cNvPr id="8" name="Text 5"/>
          <p:cNvSpPr txBox="1"/>
          <p:nvPr/>
        </p:nvSpPr>
        <p:spPr>
          <a:xfrm>
            <a:off x="4725033" y="2572247"/>
            <a:ext cx="1865231" cy="127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7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Медленная и дорогая ручная инспекция.</a:t>
            </a:r>
            <a:endParaRPr lang="en-US" sz="720" dirty="0"/>
          </a:p>
        </p:txBody>
      </p:sp>
      <p:sp>
        <p:nvSpPr>
          <p:cNvPr id="9" name="Text 6"/>
          <p:cNvSpPr txBox="1"/>
          <p:nvPr/>
        </p:nvSpPr>
        <p:spPr>
          <a:xfrm>
            <a:off x="543595" y="4362667"/>
            <a:ext cx="783801" cy="10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0"/>
              </a:lnSpc>
              <a:buNone/>
            </a:pPr>
            <a:r>
              <a:rPr lang="en-US" sz="580" kern="0" spc="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УБЫТКИ ВЫРАБОТКИ</a:t>
            </a:r>
            <a:endParaRPr lang="en-US" sz="580" dirty="0"/>
          </a:p>
        </p:txBody>
      </p:sp>
      <p:sp>
        <p:nvSpPr>
          <p:cNvPr id="10" name="Text 7"/>
          <p:cNvSpPr txBox="1"/>
          <p:nvPr/>
        </p:nvSpPr>
        <p:spPr>
          <a:xfrm>
            <a:off x="470595" y="4545708"/>
            <a:ext cx="2378259" cy="127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7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Позднее выявление скрытых дефектов и аномалий.</a:t>
            </a:r>
            <a:endParaRPr lang="en-US" sz="720" dirty="0"/>
          </a:p>
        </p:txBody>
      </p:sp>
      <p:sp>
        <p:nvSpPr>
          <p:cNvPr id="11" name="Text 8"/>
          <p:cNvSpPr txBox="1"/>
          <p:nvPr/>
        </p:nvSpPr>
        <p:spPr>
          <a:xfrm>
            <a:off x="4798033" y="4362778"/>
            <a:ext cx="642174" cy="105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0"/>
              </a:lnSpc>
              <a:buNone/>
            </a:pPr>
            <a:r>
              <a:rPr lang="en-US" sz="580" kern="0" spc="3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РАЗОБЩЁННОСТЬ</a:t>
            </a:r>
            <a:endParaRPr lang="en-US" sz="580" dirty="0"/>
          </a:p>
        </p:txBody>
      </p:sp>
      <p:sp>
        <p:nvSpPr>
          <p:cNvPr id="12" name="Text 9"/>
          <p:cNvSpPr txBox="1"/>
          <p:nvPr/>
        </p:nvSpPr>
        <p:spPr>
          <a:xfrm>
            <a:off x="4725033" y="4545820"/>
            <a:ext cx="2949027" cy="127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7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Трудности централизованного контроля и неэффективный O&amp;M.</a:t>
            </a:r>
            <a:endParaRPr lang="en-US" sz="720" dirty="0"/>
          </a:p>
        </p:txBody>
      </p:sp>
      <p:sp>
        <p:nvSpPr>
          <p:cNvPr id="13" name="Text 10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13</a:t>
            </a:r>
            <a:endParaRPr lang="en-US" sz="6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917152"/>
            <a:ext cx="723459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РЕШЕНИЕ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169231"/>
            <a:ext cx="4495685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цифровая система для O&amp;M</a:t>
            </a:r>
            <a:endParaRPr lang="en-US" sz="1870" dirty="0"/>
          </a:p>
        </p:txBody>
      </p:sp>
      <p:sp>
        <p:nvSpPr>
          <p:cNvPr id="5" name="Text 2"/>
          <p:cNvSpPr txBox="1"/>
          <p:nvPr/>
        </p:nvSpPr>
        <p:spPr>
          <a:xfrm>
            <a:off x="372256" y="1528488"/>
            <a:ext cx="5870071" cy="314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3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Комплексное решение, которое закрывает весь цикл инспекции. Это не просто дрон и не отдельный софт — это единая операционная система для эксплуатации солнечных активов.</a:t>
            </a:r>
            <a:endParaRPr lang="en-US" sz="830" dirty="0"/>
          </a:p>
        </p:txBody>
      </p:sp>
      <p:sp>
        <p:nvSpPr>
          <p:cNvPr id="6" name="Text 3"/>
          <p:cNvSpPr txBox="1"/>
          <p:nvPr/>
        </p:nvSpPr>
        <p:spPr>
          <a:xfrm>
            <a:off x="479747" y="3588449"/>
            <a:ext cx="712337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970" b="1" kern="0" spc="-1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Drone Data</a:t>
            </a:r>
            <a:endParaRPr lang="en-US" sz="970" dirty="0"/>
          </a:p>
        </p:txBody>
      </p:sp>
      <p:sp>
        <p:nvSpPr>
          <p:cNvPr id="7" name="Text 4"/>
          <p:cNvSpPr txBox="1"/>
          <p:nvPr/>
        </p:nvSpPr>
        <p:spPr>
          <a:xfrm>
            <a:off x="479747" y="3781104"/>
            <a:ext cx="2238407" cy="255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7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Автономный сбор мультиспектральных данных и телеметрии.</a:t>
            </a:r>
            <a:endParaRPr lang="en-US" sz="720" dirty="0"/>
          </a:p>
        </p:txBody>
      </p:sp>
      <p:sp>
        <p:nvSpPr>
          <p:cNvPr id="8" name="Text 5"/>
          <p:cNvSpPr txBox="1"/>
          <p:nvPr/>
        </p:nvSpPr>
        <p:spPr>
          <a:xfrm>
            <a:off x="3328206" y="3588449"/>
            <a:ext cx="711035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970" b="1" kern="0" spc="-1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Platform</a:t>
            </a:r>
            <a:endParaRPr lang="en-US" sz="970" dirty="0"/>
          </a:p>
        </p:txBody>
      </p:sp>
      <p:sp>
        <p:nvSpPr>
          <p:cNvPr id="9" name="Text 6"/>
          <p:cNvSpPr txBox="1"/>
          <p:nvPr/>
        </p:nvSpPr>
        <p:spPr>
          <a:xfrm>
            <a:off x="3328206" y="3781104"/>
            <a:ext cx="2228705" cy="127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7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Автоматическая аналитика и генерация отчётов.</a:t>
            </a:r>
            <a:endParaRPr lang="en-US" sz="720" dirty="0"/>
          </a:p>
        </p:txBody>
      </p:sp>
      <p:sp>
        <p:nvSpPr>
          <p:cNvPr id="10" name="Text 7"/>
          <p:cNvSpPr txBox="1"/>
          <p:nvPr/>
        </p:nvSpPr>
        <p:spPr>
          <a:xfrm>
            <a:off x="6176665" y="3588561"/>
            <a:ext cx="805453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970" b="1" kern="0" spc="-1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Maintenance</a:t>
            </a:r>
            <a:endParaRPr lang="en-US" sz="970" dirty="0"/>
          </a:p>
        </p:txBody>
      </p:sp>
      <p:sp>
        <p:nvSpPr>
          <p:cNvPr id="11" name="Text 8"/>
          <p:cNvSpPr txBox="1"/>
          <p:nvPr/>
        </p:nvSpPr>
        <p:spPr>
          <a:xfrm>
            <a:off x="6176665" y="3781215"/>
            <a:ext cx="2274376" cy="255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7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Планирование маршрутов и контроль устранения дефектов.</a:t>
            </a:r>
            <a:endParaRPr lang="en-US" sz="720" dirty="0"/>
          </a:p>
        </p:txBody>
      </p:sp>
      <p:sp>
        <p:nvSpPr>
          <p:cNvPr id="12" name="Text 9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13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515316"/>
            <a:ext cx="1244533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ЦИФРОВОЙ ДВОЙНИК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568723"/>
            <a:ext cx="4601580" cy="52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Цифровая подготовка: точность до 5 сантиметров</a:t>
            </a:r>
            <a:endParaRPr lang="en-US" sz="1870" dirty="0"/>
          </a:p>
        </p:txBody>
      </p:sp>
      <p:sp>
        <p:nvSpPr>
          <p:cNvPr id="5" name="Text 2"/>
          <p:cNvSpPr txBox="1"/>
          <p:nvPr/>
        </p:nvSpPr>
        <p:spPr>
          <a:xfrm>
            <a:off x="479747" y="2327044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50" dirty="0"/>
          </a:p>
        </p:txBody>
      </p:sp>
      <p:sp>
        <p:nvSpPr>
          <p:cNvPr id="6" name="Text 3"/>
          <p:cNvSpPr txBox="1"/>
          <p:nvPr/>
        </p:nvSpPr>
        <p:spPr>
          <a:xfrm>
            <a:off x="674526" y="2308752"/>
            <a:ext cx="3860907" cy="13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LiDAR и фотограмметрия: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построение цифрового двойника с точностью </a:t>
            </a:r>
            <a:r>
              <a:rPr lang="en-US" sz="750" b="1" dirty="0">
                <a:solidFill>
                  <a:srgbClr val="FF6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±5 см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479747" y="2721960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50" dirty="0"/>
          </a:p>
        </p:txBody>
      </p:sp>
      <p:sp>
        <p:nvSpPr>
          <p:cNvPr id="8" name="Text 5"/>
          <p:cNvSpPr txBox="1"/>
          <p:nvPr/>
        </p:nvSpPr>
        <p:spPr>
          <a:xfrm>
            <a:off x="674526" y="2703667"/>
            <a:ext cx="3176317" cy="13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3D-моделирование: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точная копия местности и объектов станции.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479747" y="3116875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74526" y="3098582"/>
            <a:ext cx="2874723" cy="13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Анализ инсоляции: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расчёт освещённости и зон затенения.</a:t>
            </a:r>
            <a:endParaRPr lang="en-US" sz="750" dirty="0"/>
          </a:p>
        </p:txBody>
      </p:sp>
      <p:sp>
        <p:nvSpPr>
          <p:cNvPr id="11" name="Text 8"/>
          <p:cNvSpPr txBox="1"/>
          <p:nvPr/>
        </p:nvSpPr>
        <p:spPr>
          <a:xfrm>
            <a:off x="479747" y="3511791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674526" y="3493498"/>
            <a:ext cx="4107009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Моделирование компоновки: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оптимизация размещения панелей для максимизации выработки.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13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294865"/>
            <a:ext cx="1360248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АППАРАТНЫЙ УРОВЕНЬ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604553"/>
            <a:ext cx="2739840" cy="52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Аппаратный уровень:</a:t>
            </a:r>
            <a:endParaRPr lang="en-US" sz="1870" dirty="0"/>
          </a:p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автономность</a:t>
            </a:r>
            <a:endParaRPr lang="en-US" sz="1870" dirty="0"/>
          </a:p>
        </p:txBody>
      </p:sp>
      <p:sp>
        <p:nvSpPr>
          <p:cNvPr id="5" name="Text 2"/>
          <p:cNvSpPr txBox="1"/>
          <p:nvPr/>
        </p:nvSpPr>
        <p:spPr>
          <a:xfrm>
            <a:off x="479747" y="2362875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50" dirty="0"/>
          </a:p>
        </p:txBody>
      </p:sp>
      <p:sp>
        <p:nvSpPr>
          <p:cNvPr id="6" name="Text 3"/>
          <p:cNvSpPr txBox="1"/>
          <p:nvPr/>
        </p:nvSpPr>
        <p:spPr>
          <a:xfrm>
            <a:off x="674526" y="2344582"/>
            <a:ext cx="1711417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операторов: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взлёт и посадка без постоянного участия человека.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2733935" y="2362875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50" dirty="0"/>
          </a:p>
        </p:txBody>
      </p:sp>
      <p:sp>
        <p:nvSpPr>
          <p:cNvPr id="8" name="Text 5"/>
          <p:cNvSpPr txBox="1"/>
          <p:nvPr/>
        </p:nvSpPr>
        <p:spPr>
          <a:xfrm>
            <a:off x="2928714" y="2344582"/>
            <a:ext cx="1512169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Hangar: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автоматическая зарядка и замена батарей.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479747" y="2901000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74526" y="2882707"/>
            <a:ext cx="1833640" cy="402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Работа 24/7: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защита от погодных условий и готовность к инспекциям по расписанию.</a:t>
            </a:r>
            <a:endParaRPr lang="en-US" sz="750" dirty="0"/>
          </a:p>
        </p:txBody>
      </p:sp>
      <p:sp>
        <p:nvSpPr>
          <p:cNvPr id="11" name="Text 8"/>
          <p:cNvSpPr txBox="1"/>
          <p:nvPr/>
        </p:nvSpPr>
        <p:spPr>
          <a:xfrm>
            <a:off x="2733935" y="2901000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2928714" y="2882707"/>
            <a:ext cx="1793293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First: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автоматический возврат при низком заряде батареи.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1296356" y="4556171"/>
            <a:ext cx="2296738" cy="1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30"/>
              </a:lnSpc>
              <a:buNone/>
            </a:pPr>
            <a:r>
              <a:rPr lang="en-US" sz="790" b="1" dirty="0">
                <a:solidFill>
                  <a:srgbClr val="F5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Взлёт по расписанию без выезда бригады</a:t>
            </a:r>
            <a:endParaRPr lang="en-US" sz="790" dirty="0"/>
          </a:p>
        </p:txBody>
      </p:sp>
      <p:sp>
        <p:nvSpPr>
          <p:cNvPr id="14" name="Text 11"/>
          <p:cNvSpPr txBox="1"/>
          <p:nvPr/>
        </p:nvSpPr>
        <p:spPr>
          <a:xfrm>
            <a:off x="5713715" y="4556171"/>
            <a:ext cx="1971008" cy="1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30"/>
              </a:lnSpc>
              <a:buNone/>
            </a:pPr>
            <a:r>
              <a:rPr lang="en-US" sz="790" b="1" dirty="0">
                <a:solidFill>
                  <a:srgbClr val="F5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Готовность к вылету 24 часа в сутки</a:t>
            </a:r>
            <a:endParaRPr lang="en-US" sz="790" dirty="0"/>
          </a:p>
        </p:txBody>
      </p:sp>
      <p:sp>
        <p:nvSpPr>
          <p:cNvPr id="15" name="Text 12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13</a:t>
            </a:r>
            <a:endParaRPr lang="en-US" sz="6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515316"/>
            <a:ext cx="665483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ПОЛЁТЫ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501639"/>
            <a:ext cx="3435316" cy="52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Многоуровневая навигация</a:t>
            </a:r>
            <a:endParaRPr lang="en-US" sz="1870" dirty="0"/>
          </a:p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 безопасность полётов</a:t>
            </a:r>
            <a:endParaRPr lang="en-US" sz="1870" dirty="0"/>
          </a:p>
        </p:txBody>
      </p:sp>
      <p:sp>
        <p:nvSpPr>
          <p:cNvPr id="5" name="Text 2"/>
          <p:cNvSpPr txBox="1"/>
          <p:nvPr/>
        </p:nvSpPr>
        <p:spPr>
          <a:xfrm>
            <a:off x="479747" y="2259960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50" dirty="0"/>
          </a:p>
        </p:txBody>
      </p:sp>
      <p:sp>
        <p:nvSpPr>
          <p:cNvPr id="6" name="Text 3"/>
          <p:cNvSpPr txBox="1"/>
          <p:nvPr/>
        </p:nvSpPr>
        <p:spPr>
          <a:xfrm>
            <a:off x="674526" y="2241667"/>
            <a:ext cx="4097543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Автоматическое планирование: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построение маршрутов на основе 3D-модели (point cloud) и параметров камеры.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479747" y="2789044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50" dirty="0"/>
          </a:p>
        </p:txBody>
      </p:sp>
      <p:sp>
        <p:nvSpPr>
          <p:cNvPr id="8" name="Text 5"/>
          <p:cNvSpPr txBox="1"/>
          <p:nvPr/>
        </p:nvSpPr>
        <p:spPr>
          <a:xfrm>
            <a:off x="674526" y="2770751"/>
            <a:ext cx="3845999" cy="13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Verification: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проверка маршрута на препятствия и no-fly зоны до запуска.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479747" y="3183959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74526" y="3165667"/>
            <a:ext cx="3871437" cy="13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/ Simulation: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виртуальная симуляция миссии перед реальным вылетом.</a:t>
            </a:r>
            <a:endParaRPr lang="en-US" sz="750" dirty="0"/>
          </a:p>
        </p:txBody>
      </p:sp>
      <p:sp>
        <p:nvSpPr>
          <p:cNvPr id="11" name="Text 8"/>
          <p:cNvSpPr txBox="1"/>
          <p:nvPr/>
        </p:nvSpPr>
        <p:spPr>
          <a:xfrm>
            <a:off x="479747" y="3578875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674526" y="3560582"/>
            <a:ext cx="4195038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Тотальное покрытие: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настройка точек съёмки (GSD, overlap, altitude) для </a:t>
            </a:r>
            <a:r>
              <a:rPr lang="en-US" sz="750" b="1" dirty="0">
                <a:solidFill>
                  <a:srgbClr val="FF6B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охвата территории.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13</a:t>
            </a:r>
            <a:endParaRPr lang="en-US" sz="6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995957"/>
            <a:ext cx="839174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AI-АНАЛИЗ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248035"/>
            <a:ext cx="5807599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Мозг системы: мультиспектральный AI-анализ</a:t>
            </a:r>
            <a:endParaRPr lang="en-US" sz="1870" dirty="0"/>
          </a:p>
        </p:txBody>
      </p:sp>
      <p:sp>
        <p:nvSpPr>
          <p:cNvPr id="5" name="Text 2"/>
          <p:cNvSpPr txBox="1"/>
          <p:nvPr/>
        </p:nvSpPr>
        <p:spPr>
          <a:xfrm>
            <a:off x="372256" y="1607293"/>
            <a:ext cx="4867559" cy="157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3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Глубокий анализ в видимом спектре (Visible Light) и тепловизионном слиянии (Image Fusion).</a:t>
            </a:r>
            <a:endParaRPr lang="en-US" sz="830" dirty="0"/>
          </a:p>
        </p:txBody>
      </p:sp>
      <p:sp>
        <p:nvSpPr>
          <p:cNvPr id="6" name="Text 3"/>
          <p:cNvSpPr txBox="1"/>
          <p:nvPr/>
        </p:nvSpPr>
        <p:spPr>
          <a:xfrm>
            <a:off x="479747" y="3509756"/>
            <a:ext cx="1486376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970" b="1" kern="0" spc="-1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Извлечение признаков</a:t>
            </a:r>
            <a:endParaRPr lang="en-US" sz="970" dirty="0"/>
          </a:p>
        </p:txBody>
      </p:sp>
      <p:sp>
        <p:nvSpPr>
          <p:cNvPr id="7" name="Text 4"/>
          <p:cNvSpPr txBox="1"/>
          <p:nvPr/>
        </p:nvSpPr>
        <p:spPr>
          <a:xfrm>
            <a:off x="479747" y="3702411"/>
            <a:ext cx="2285734" cy="255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7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Нейросетевое распознавание ключевых проблем: hotspots, микротрещины, пыль.</a:t>
            </a:r>
            <a:endParaRPr lang="en-US" sz="720" dirty="0"/>
          </a:p>
        </p:txBody>
      </p:sp>
      <p:sp>
        <p:nvSpPr>
          <p:cNvPr id="8" name="Text 5"/>
          <p:cNvSpPr txBox="1"/>
          <p:nvPr/>
        </p:nvSpPr>
        <p:spPr>
          <a:xfrm>
            <a:off x="3328206" y="3509756"/>
            <a:ext cx="1655689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970" b="1" kern="0" spc="-1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Точность классификации</a:t>
            </a:r>
            <a:endParaRPr lang="en-US" sz="970" dirty="0"/>
          </a:p>
        </p:txBody>
      </p:sp>
      <p:sp>
        <p:nvSpPr>
          <p:cNvPr id="9" name="Text 6"/>
          <p:cNvSpPr txBox="1"/>
          <p:nvPr/>
        </p:nvSpPr>
        <p:spPr>
          <a:xfrm>
            <a:off x="3328206" y="3702411"/>
            <a:ext cx="2315551" cy="255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7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Автоматическое определение типа повреждения и степени его критичности.</a:t>
            </a:r>
            <a:endParaRPr lang="en-US" sz="720" dirty="0"/>
          </a:p>
        </p:txBody>
      </p:sp>
      <p:sp>
        <p:nvSpPr>
          <p:cNvPr id="10" name="Text 7"/>
          <p:cNvSpPr txBox="1"/>
          <p:nvPr/>
        </p:nvSpPr>
        <p:spPr>
          <a:xfrm>
            <a:off x="6176665" y="3509868"/>
            <a:ext cx="1774836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970" b="1" kern="0" spc="-1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Многомасштабное слияние</a:t>
            </a:r>
            <a:endParaRPr lang="en-US" sz="970" dirty="0"/>
          </a:p>
        </p:txBody>
      </p:sp>
      <p:sp>
        <p:nvSpPr>
          <p:cNvPr id="11" name="Text 8"/>
          <p:cNvSpPr txBox="1"/>
          <p:nvPr/>
        </p:nvSpPr>
        <p:spPr>
          <a:xfrm>
            <a:off x="6176665" y="3702523"/>
            <a:ext cx="1940955" cy="255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7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Одновременный анализ макро-объектов и микроскопических дефектов.</a:t>
            </a:r>
            <a:endParaRPr lang="en-US" sz="720" dirty="0"/>
          </a:p>
        </p:txBody>
      </p:sp>
      <p:sp>
        <p:nvSpPr>
          <p:cNvPr id="12" name="Text 9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13</a:t>
            </a:r>
            <a:endParaRPr lang="en-US" sz="6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1042949"/>
            <a:ext cx="723459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ДЕФЕКТЫ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295028"/>
            <a:ext cx="3710287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Какие дефекты мы выявляем</a:t>
            </a:r>
            <a:endParaRPr lang="en-US" sz="1870" dirty="0"/>
          </a:p>
        </p:txBody>
      </p:sp>
      <p:sp>
        <p:nvSpPr>
          <p:cNvPr id="5" name="Text 2"/>
          <p:cNvSpPr txBox="1"/>
          <p:nvPr/>
        </p:nvSpPr>
        <p:spPr>
          <a:xfrm>
            <a:off x="372256" y="1654285"/>
            <a:ext cx="5944848" cy="3149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3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ориентирована на практические сценарии эксплуатации и автоматически выявляет наиболее критичные типы дефектов. Анализ строится на visible light, infrared, image fusion и AI-моделях.</a:t>
            </a:r>
            <a:endParaRPr lang="en-US" sz="830" dirty="0"/>
          </a:p>
        </p:txBody>
      </p:sp>
      <p:sp>
        <p:nvSpPr>
          <p:cNvPr id="6" name="Text 3"/>
          <p:cNvSpPr txBox="1"/>
          <p:nvPr/>
        </p:nvSpPr>
        <p:spPr>
          <a:xfrm>
            <a:off x="484882" y="2195988"/>
            <a:ext cx="2708249" cy="13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 spots</a:t>
            </a:r>
            <a:endParaRPr lang="en-US" sz="860" dirty="0"/>
          </a:p>
        </p:txBody>
      </p:sp>
      <p:sp>
        <p:nvSpPr>
          <p:cNvPr id="7" name="Text 4"/>
          <p:cNvSpPr txBox="1"/>
          <p:nvPr/>
        </p:nvSpPr>
        <p:spPr>
          <a:xfrm>
            <a:off x="484882" y="2346052"/>
            <a:ext cx="2708249" cy="104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0"/>
              </a:lnSpc>
              <a:buNone/>
            </a:pPr>
            <a:r>
              <a:rPr lang="en-US" sz="59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Перегрев ячеек / Thermal imaging</a:t>
            </a:r>
            <a:endParaRPr lang="en-US" sz="590" dirty="0"/>
          </a:p>
        </p:txBody>
      </p:sp>
      <p:sp>
        <p:nvSpPr>
          <p:cNvPr id="8" name="Text 5"/>
          <p:cNvSpPr txBox="1"/>
          <p:nvPr/>
        </p:nvSpPr>
        <p:spPr>
          <a:xfrm>
            <a:off x="3315035" y="2195988"/>
            <a:ext cx="2708368" cy="13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Hidden cracks</a:t>
            </a:r>
            <a:endParaRPr lang="en-US" sz="860" dirty="0"/>
          </a:p>
        </p:txBody>
      </p:sp>
      <p:sp>
        <p:nvSpPr>
          <p:cNvPr id="9" name="Text 6"/>
          <p:cNvSpPr txBox="1"/>
          <p:nvPr/>
        </p:nvSpPr>
        <p:spPr>
          <a:xfrm>
            <a:off x="3315035" y="2346052"/>
            <a:ext cx="2708368" cy="104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0"/>
              </a:lnSpc>
              <a:buNone/>
            </a:pPr>
            <a:r>
              <a:rPr lang="en-US" sz="59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Скрытые микротрещины / Electroluminescence</a:t>
            </a:r>
            <a:endParaRPr lang="en-US" sz="590" dirty="0"/>
          </a:p>
        </p:txBody>
      </p:sp>
      <p:sp>
        <p:nvSpPr>
          <p:cNvPr id="10" name="Text 7"/>
          <p:cNvSpPr txBox="1"/>
          <p:nvPr/>
        </p:nvSpPr>
        <p:spPr>
          <a:xfrm>
            <a:off x="6145299" y="2195988"/>
            <a:ext cx="2708249" cy="13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 spots</a:t>
            </a:r>
            <a:endParaRPr lang="en-US" sz="860" dirty="0"/>
          </a:p>
        </p:txBody>
      </p:sp>
      <p:sp>
        <p:nvSpPr>
          <p:cNvPr id="11" name="Text 8"/>
          <p:cNvSpPr txBox="1"/>
          <p:nvPr/>
        </p:nvSpPr>
        <p:spPr>
          <a:xfrm>
            <a:off x="6145299" y="2346052"/>
            <a:ext cx="2708249" cy="104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0"/>
              </a:lnSpc>
              <a:buNone/>
            </a:pPr>
            <a:r>
              <a:rPr lang="en-US" sz="59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Деградация модулей / Visual + AI</a:t>
            </a:r>
            <a:endParaRPr lang="en-US" sz="590" dirty="0"/>
          </a:p>
        </p:txBody>
      </p:sp>
      <p:sp>
        <p:nvSpPr>
          <p:cNvPr id="12" name="Text 9"/>
          <p:cNvSpPr txBox="1"/>
          <p:nvPr/>
        </p:nvSpPr>
        <p:spPr>
          <a:xfrm>
            <a:off x="484882" y="2720942"/>
            <a:ext cx="2708249" cy="13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Dust</a:t>
            </a:r>
            <a:endParaRPr lang="en-US" sz="860" dirty="0"/>
          </a:p>
        </p:txBody>
      </p:sp>
      <p:sp>
        <p:nvSpPr>
          <p:cNvPr id="13" name="Text 10"/>
          <p:cNvSpPr txBox="1"/>
          <p:nvPr/>
        </p:nvSpPr>
        <p:spPr>
          <a:xfrm>
            <a:off x="484882" y="2871006"/>
            <a:ext cx="2708249" cy="104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0"/>
              </a:lnSpc>
              <a:buNone/>
            </a:pPr>
            <a:r>
              <a:rPr lang="en-US" sz="59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Загрязнение поверхности / Visual detection</a:t>
            </a:r>
            <a:endParaRPr lang="en-US" sz="590" dirty="0"/>
          </a:p>
        </p:txBody>
      </p:sp>
      <p:sp>
        <p:nvSpPr>
          <p:cNvPr id="14" name="Text 11"/>
          <p:cNvSpPr txBox="1"/>
          <p:nvPr/>
        </p:nvSpPr>
        <p:spPr>
          <a:xfrm>
            <a:off x="3315035" y="2720942"/>
            <a:ext cx="2708368" cy="13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Sand burial</a:t>
            </a:r>
            <a:endParaRPr lang="en-US" sz="860" dirty="0"/>
          </a:p>
        </p:txBody>
      </p:sp>
      <p:sp>
        <p:nvSpPr>
          <p:cNvPr id="15" name="Text 12"/>
          <p:cNvSpPr txBox="1"/>
          <p:nvPr/>
        </p:nvSpPr>
        <p:spPr>
          <a:xfrm>
            <a:off x="3315035" y="2871006"/>
            <a:ext cx="2708368" cy="104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0"/>
              </a:lnSpc>
              <a:buNone/>
            </a:pPr>
            <a:r>
              <a:rPr lang="en-US" sz="59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Песчаное занесение / RGB analysis</a:t>
            </a:r>
            <a:endParaRPr lang="en-US" sz="590" dirty="0"/>
          </a:p>
        </p:txBody>
      </p:sp>
      <p:sp>
        <p:nvSpPr>
          <p:cNvPr id="16" name="Text 13"/>
          <p:cNvSpPr txBox="1"/>
          <p:nvPr/>
        </p:nvSpPr>
        <p:spPr>
          <a:xfrm>
            <a:off x="6145299" y="2720942"/>
            <a:ext cx="2708249" cy="13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Snow cover</a:t>
            </a:r>
            <a:endParaRPr lang="en-US" sz="860" dirty="0"/>
          </a:p>
        </p:txBody>
      </p:sp>
      <p:sp>
        <p:nvSpPr>
          <p:cNvPr id="17" name="Text 14"/>
          <p:cNvSpPr txBox="1"/>
          <p:nvPr/>
        </p:nvSpPr>
        <p:spPr>
          <a:xfrm>
            <a:off x="6145299" y="2871006"/>
            <a:ext cx="2708249" cy="104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0"/>
              </a:lnSpc>
              <a:buNone/>
            </a:pPr>
            <a:r>
              <a:rPr lang="en-US" sz="59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Снежное покрытие / Visual + Thermal</a:t>
            </a:r>
            <a:endParaRPr lang="en-US" sz="590" dirty="0"/>
          </a:p>
        </p:txBody>
      </p:sp>
      <p:sp>
        <p:nvSpPr>
          <p:cNvPr id="18" name="Text 15"/>
          <p:cNvSpPr txBox="1"/>
          <p:nvPr/>
        </p:nvSpPr>
        <p:spPr>
          <a:xfrm>
            <a:off x="484882" y="3245896"/>
            <a:ext cx="2708249" cy="13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Vegetation</a:t>
            </a:r>
            <a:endParaRPr lang="en-US" sz="860" dirty="0"/>
          </a:p>
        </p:txBody>
      </p:sp>
      <p:sp>
        <p:nvSpPr>
          <p:cNvPr id="19" name="Text 16"/>
          <p:cNvSpPr txBox="1"/>
          <p:nvPr/>
        </p:nvSpPr>
        <p:spPr>
          <a:xfrm>
            <a:off x="484882" y="3395960"/>
            <a:ext cx="2708249" cy="104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0"/>
              </a:lnSpc>
              <a:buNone/>
            </a:pPr>
            <a:r>
              <a:rPr lang="en-US" sz="59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Затенение деревьями / 3D mapping</a:t>
            </a:r>
            <a:endParaRPr lang="en-US" sz="590" dirty="0"/>
          </a:p>
        </p:txBody>
      </p:sp>
      <p:sp>
        <p:nvSpPr>
          <p:cNvPr id="20" name="Text 17"/>
          <p:cNvSpPr txBox="1"/>
          <p:nvPr/>
        </p:nvSpPr>
        <p:spPr>
          <a:xfrm>
            <a:off x="3315035" y="3245896"/>
            <a:ext cx="2708368" cy="13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Panel damage</a:t>
            </a:r>
            <a:endParaRPr lang="en-US" sz="860" dirty="0"/>
          </a:p>
        </p:txBody>
      </p:sp>
      <p:sp>
        <p:nvSpPr>
          <p:cNvPr id="21" name="Text 18"/>
          <p:cNvSpPr txBox="1"/>
          <p:nvPr/>
        </p:nvSpPr>
        <p:spPr>
          <a:xfrm>
            <a:off x="3315035" y="3395960"/>
            <a:ext cx="2708368" cy="104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0"/>
              </a:lnSpc>
              <a:buNone/>
            </a:pPr>
            <a:r>
              <a:rPr lang="en-US" sz="59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Механические повреждения / Visual inspection</a:t>
            </a:r>
            <a:endParaRPr lang="en-US" sz="590" dirty="0"/>
          </a:p>
        </p:txBody>
      </p:sp>
      <p:sp>
        <p:nvSpPr>
          <p:cNvPr id="22" name="Text 19"/>
          <p:cNvSpPr txBox="1"/>
          <p:nvPr/>
        </p:nvSpPr>
        <p:spPr>
          <a:xfrm>
            <a:off x="6145299" y="3245896"/>
            <a:ext cx="2708249" cy="1314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40"/>
              </a:lnSpc>
              <a:buNone/>
            </a:pPr>
            <a:r>
              <a:rPr lang="en-US" sz="86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anomalies</a:t>
            </a:r>
            <a:endParaRPr lang="en-US" sz="860" dirty="0"/>
          </a:p>
        </p:txBody>
      </p:sp>
      <p:sp>
        <p:nvSpPr>
          <p:cNvPr id="23" name="Text 20"/>
          <p:cNvSpPr txBox="1"/>
          <p:nvPr/>
        </p:nvSpPr>
        <p:spPr>
          <a:xfrm>
            <a:off x="6145299" y="3395960"/>
            <a:ext cx="2708249" cy="104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830"/>
              </a:lnSpc>
              <a:buNone/>
            </a:pPr>
            <a:r>
              <a:rPr lang="en-US" sz="59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Электрические отклонения / Multi-sensor fusion</a:t>
            </a:r>
            <a:endParaRPr lang="en-US" sz="590" dirty="0"/>
          </a:p>
        </p:txBody>
      </p:sp>
      <p:sp>
        <p:nvSpPr>
          <p:cNvPr id="24" name="Text 21"/>
          <p:cNvSpPr txBox="1"/>
          <p:nvPr/>
        </p:nvSpPr>
        <p:spPr>
          <a:xfrm>
            <a:off x="1192422" y="3808086"/>
            <a:ext cx="1086459" cy="1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30"/>
              </a:lnSpc>
              <a:buNone/>
            </a:pPr>
            <a:r>
              <a:rPr lang="en-US" sz="790" b="1" dirty="0">
                <a:solidFill>
                  <a:srgbClr val="F5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11+ типов дефектов</a:t>
            </a:r>
            <a:endParaRPr lang="en-US" sz="790" dirty="0"/>
          </a:p>
        </p:txBody>
      </p:sp>
      <p:sp>
        <p:nvSpPr>
          <p:cNvPr id="25" name="Text 22"/>
          <p:cNvSpPr txBox="1"/>
          <p:nvPr/>
        </p:nvSpPr>
        <p:spPr>
          <a:xfrm>
            <a:off x="4097694" y="3808086"/>
            <a:ext cx="948500" cy="1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30"/>
              </a:lnSpc>
              <a:buNone/>
            </a:pPr>
            <a:r>
              <a:rPr lang="en-US" sz="790" b="1" dirty="0">
                <a:solidFill>
                  <a:srgbClr val="F5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95%+ точность AI</a:t>
            </a:r>
            <a:endParaRPr lang="en-US" sz="790" dirty="0"/>
          </a:p>
        </p:txBody>
      </p:sp>
      <p:sp>
        <p:nvSpPr>
          <p:cNvPr id="26" name="Text 23"/>
          <p:cNvSpPr txBox="1"/>
          <p:nvPr/>
        </p:nvSpPr>
        <p:spPr>
          <a:xfrm>
            <a:off x="6733670" y="3808086"/>
            <a:ext cx="1349245" cy="1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30"/>
              </a:lnSpc>
              <a:buNone/>
            </a:pPr>
            <a:r>
              <a:rPr lang="en-US" sz="790" b="1" dirty="0">
                <a:solidFill>
                  <a:srgbClr val="F5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Менее 2 минут на анализ</a:t>
            </a:r>
            <a:endParaRPr lang="en-US" sz="790" dirty="0"/>
          </a:p>
        </p:txBody>
      </p:sp>
      <p:sp>
        <p:nvSpPr>
          <p:cNvPr id="27" name="Text 24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13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1118963"/>
            <a:ext cx="723459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ПРОЦЕСС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371042"/>
            <a:ext cx="2676658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Как работает система</a:t>
            </a:r>
            <a:endParaRPr lang="en-US" sz="1870" dirty="0"/>
          </a:p>
        </p:txBody>
      </p:sp>
      <p:sp>
        <p:nvSpPr>
          <p:cNvPr id="5" name="Text 2"/>
          <p:cNvSpPr txBox="1"/>
          <p:nvPr/>
        </p:nvSpPr>
        <p:spPr>
          <a:xfrm>
            <a:off x="372256" y="1681177"/>
            <a:ext cx="2119024" cy="178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0"/>
              </a:lnSpc>
              <a:buNone/>
            </a:pPr>
            <a:r>
              <a:rPr lang="en-US" sz="970" dirty="0">
                <a:solidFill>
                  <a:srgbClr val="4A5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облёта до устранения дефекта</a:t>
            </a:r>
            <a:endParaRPr lang="en-US" sz="970" dirty="0"/>
          </a:p>
        </p:txBody>
      </p:sp>
      <p:sp>
        <p:nvSpPr>
          <p:cNvPr id="6" name="Text 3"/>
          <p:cNvSpPr txBox="1"/>
          <p:nvPr/>
        </p:nvSpPr>
        <p:spPr>
          <a:xfrm>
            <a:off x="372256" y="1954434"/>
            <a:ext cx="5804759" cy="47248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240"/>
              </a:lnSpc>
              <a:buNone/>
            </a:pPr>
            <a:r>
              <a:rPr lang="en-US" sz="83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Система формирует маршрут инспекции, дрон выполняет автономный облёт, платформа анализирует данные, определяет дефекты, отображает их на карте, формирует отчёт, создаёт задачи и контролирует устранение. Результаты ремонта возвращаются в систему и становятся частью истории объекта.</a:t>
            </a:r>
            <a:endParaRPr lang="en-US" sz="830" dirty="0"/>
          </a:p>
        </p:txBody>
      </p:sp>
      <p:sp>
        <p:nvSpPr>
          <p:cNvPr id="7" name="Text 4"/>
          <p:cNvSpPr txBox="1"/>
          <p:nvPr/>
        </p:nvSpPr>
        <p:spPr>
          <a:xfrm>
            <a:off x="414000" y="2707928"/>
            <a:ext cx="1523409" cy="113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20"/>
              </a:lnSpc>
              <a:buNone/>
            </a:pPr>
            <a:r>
              <a:rPr lang="en-US" sz="610" kern="0" spc="60" dirty="0">
                <a:solidFill>
                  <a:srgbClr val="FF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1</a:t>
            </a:r>
            <a:endParaRPr lang="en-US" sz="610" dirty="0"/>
          </a:p>
        </p:txBody>
      </p:sp>
      <p:sp>
        <p:nvSpPr>
          <p:cNvPr id="8" name="Text 5"/>
          <p:cNvSpPr txBox="1"/>
          <p:nvPr/>
        </p:nvSpPr>
        <p:spPr>
          <a:xfrm>
            <a:off x="414000" y="2854939"/>
            <a:ext cx="1523409" cy="13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Планирование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414000" y="3016512"/>
            <a:ext cx="1523409" cy="11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90"/>
              </a:lnSpc>
              <a:buNone/>
            </a:pPr>
            <a:r>
              <a:rPr lang="en-US" sz="660" dirty="0">
                <a:solidFill>
                  <a:srgbClr val="4A5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Маршрут и параметры миссии</a:t>
            </a:r>
            <a:endParaRPr lang="en-US" sz="660" dirty="0"/>
          </a:p>
        </p:txBody>
      </p:sp>
      <p:sp>
        <p:nvSpPr>
          <p:cNvPr id="10" name="Text 7"/>
          <p:cNvSpPr txBox="1"/>
          <p:nvPr/>
        </p:nvSpPr>
        <p:spPr>
          <a:xfrm>
            <a:off x="2112092" y="2707928"/>
            <a:ext cx="1523409" cy="113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20"/>
              </a:lnSpc>
              <a:buNone/>
            </a:pPr>
            <a:r>
              <a:rPr lang="en-US" sz="610" kern="0" spc="60" dirty="0">
                <a:solidFill>
                  <a:srgbClr val="FF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2</a:t>
            </a:r>
            <a:endParaRPr lang="en-US" sz="610" dirty="0"/>
          </a:p>
        </p:txBody>
      </p:sp>
      <p:sp>
        <p:nvSpPr>
          <p:cNvPr id="11" name="Text 8"/>
          <p:cNvSpPr txBox="1"/>
          <p:nvPr/>
        </p:nvSpPr>
        <p:spPr>
          <a:xfrm>
            <a:off x="2112092" y="2854939"/>
            <a:ext cx="1523409" cy="13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Облёт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2112092" y="3016512"/>
            <a:ext cx="1523409" cy="11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90"/>
              </a:lnSpc>
              <a:buNone/>
            </a:pPr>
            <a:r>
              <a:rPr lang="en-US" sz="660" dirty="0">
                <a:solidFill>
                  <a:srgbClr val="4A5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Автономный сбор данных</a:t>
            </a:r>
            <a:endParaRPr lang="en-US" sz="660" dirty="0"/>
          </a:p>
        </p:txBody>
      </p:sp>
      <p:sp>
        <p:nvSpPr>
          <p:cNvPr id="13" name="Text 10"/>
          <p:cNvSpPr txBox="1"/>
          <p:nvPr/>
        </p:nvSpPr>
        <p:spPr>
          <a:xfrm>
            <a:off x="3810180" y="2707928"/>
            <a:ext cx="1523527" cy="113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20"/>
              </a:lnSpc>
              <a:buNone/>
            </a:pPr>
            <a:r>
              <a:rPr lang="en-US" sz="610" kern="0" spc="60" dirty="0">
                <a:solidFill>
                  <a:srgbClr val="FF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3</a:t>
            </a:r>
            <a:endParaRPr lang="en-US" sz="610" dirty="0"/>
          </a:p>
        </p:txBody>
      </p:sp>
      <p:sp>
        <p:nvSpPr>
          <p:cNvPr id="14" name="Text 11"/>
          <p:cNvSpPr txBox="1"/>
          <p:nvPr/>
        </p:nvSpPr>
        <p:spPr>
          <a:xfrm>
            <a:off x="3810180" y="2854939"/>
            <a:ext cx="1523527" cy="13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AI-анализ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3810180" y="3016512"/>
            <a:ext cx="1523527" cy="11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90"/>
              </a:lnSpc>
              <a:buNone/>
            </a:pPr>
            <a:r>
              <a:rPr lang="en-US" sz="660" dirty="0">
                <a:solidFill>
                  <a:srgbClr val="4A5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Распознавание дефектов</a:t>
            </a:r>
            <a:endParaRPr lang="en-US" sz="660" dirty="0"/>
          </a:p>
        </p:txBody>
      </p:sp>
      <p:sp>
        <p:nvSpPr>
          <p:cNvPr id="16" name="Text 13"/>
          <p:cNvSpPr txBox="1"/>
          <p:nvPr/>
        </p:nvSpPr>
        <p:spPr>
          <a:xfrm>
            <a:off x="5508387" y="2707928"/>
            <a:ext cx="1523409" cy="113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20"/>
              </a:lnSpc>
              <a:buNone/>
            </a:pPr>
            <a:r>
              <a:rPr lang="en-US" sz="610" kern="0" spc="60" dirty="0">
                <a:solidFill>
                  <a:srgbClr val="FF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4</a:t>
            </a:r>
            <a:endParaRPr lang="en-US" sz="610" dirty="0"/>
          </a:p>
        </p:txBody>
      </p:sp>
      <p:sp>
        <p:nvSpPr>
          <p:cNvPr id="17" name="Text 14"/>
          <p:cNvSpPr txBox="1"/>
          <p:nvPr/>
        </p:nvSpPr>
        <p:spPr>
          <a:xfrm>
            <a:off x="5508387" y="2854939"/>
            <a:ext cx="1523409" cy="13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Визуализация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5508387" y="3016512"/>
            <a:ext cx="1523409" cy="11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90"/>
              </a:lnSpc>
              <a:buNone/>
            </a:pPr>
            <a:r>
              <a:rPr lang="en-US" sz="660" dirty="0">
                <a:solidFill>
                  <a:srgbClr val="4A5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Карта дефектов и отчёт</a:t>
            </a:r>
            <a:endParaRPr lang="en-US" sz="660" dirty="0"/>
          </a:p>
        </p:txBody>
      </p:sp>
      <p:sp>
        <p:nvSpPr>
          <p:cNvPr id="19" name="Text 16"/>
          <p:cNvSpPr txBox="1"/>
          <p:nvPr/>
        </p:nvSpPr>
        <p:spPr>
          <a:xfrm>
            <a:off x="7206475" y="2707928"/>
            <a:ext cx="1523527" cy="1132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20"/>
              </a:lnSpc>
              <a:buNone/>
            </a:pPr>
            <a:r>
              <a:rPr lang="en-US" sz="610" kern="0" spc="60" dirty="0">
                <a:solidFill>
                  <a:srgbClr val="FF6B2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STEP 5</a:t>
            </a:r>
            <a:endParaRPr lang="en-US" sz="610" dirty="0"/>
          </a:p>
        </p:txBody>
      </p:sp>
      <p:sp>
        <p:nvSpPr>
          <p:cNvPr id="20" name="Text 17"/>
          <p:cNvSpPr txBox="1"/>
          <p:nvPr/>
        </p:nvSpPr>
        <p:spPr>
          <a:xfrm>
            <a:off x="7206475" y="2854939"/>
            <a:ext cx="1523527" cy="1369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O&amp;M</a:t>
            </a:r>
            <a:endParaRPr lang="en-US" sz="900" dirty="0"/>
          </a:p>
        </p:txBody>
      </p:sp>
      <p:sp>
        <p:nvSpPr>
          <p:cNvPr id="21" name="Text 18"/>
          <p:cNvSpPr txBox="1"/>
          <p:nvPr/>
        </p:nvSpPr>
        <p:spPr>
          <a:xfrm>
            <a:off x="7206475" y="3016512"/>
            <a:ext cx="1523527" cy="113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890"/>
              </a:lnSpc>
              <a:buNone/>
            </a:pPr>
            <a:r>
              <a:rPr lang="en-US" sz="660" dirty="0">
                <a:solidFill>
                  <a:srgbClr val="4A5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Задачи и контроль</a:t>
            </a:r>
            <a:endParaRPr lang="en-US" sz="660" dirty="0"/>
          </a:p>
        </p:txBody>
      </p:sp>
      <p:sp>
        <p:nvSpPr>
          <p:cNvPr id="22" name="Text 19"/>
          <p:cNvSpPr txBox="1"/>
          <p:nvPr/>
        </p:nvSpPr>
        <p:spPr>
          <a:xfrm>
            <a:off x="483577" y="3601364"/>
            <a:ext cx="2504150" cy="261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30"/>
              </a:lnSpc>
              <a:buNone/>
            </a:pPr>
            <a:r>
              <a:rPr lang="en-US" sz="790" b="1" dirty="0">
                <a:solidFill>
                  <a:srgbClr val="F5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Время цикла: от облёта до закрытия задачи — 24–72 часа</a:t>
            </a:r>
            <a:endParaRPr lang="en-US" sz="790" dirty="0"/>
          </a:p>
        </p:txBody>
      </p:sp>
      <p:sp>
        <p:nvSpPr>
          <p:cNvPr id="23" name="Text 20"/>
          <p:cNvSpPr txBox="1"/>
          <p:nvPr/>
        </p:nvSpPr>
        <p:spPr>
          <a:xfrm>
            <a:off x="3343773" y="3601364"/>
            <a:ext cx="2456231" cy="261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30"/>
              </a:lnSpc>
              <a:buNone/>
            </a:pPr>
            <a:r>
              <a:rPr lang="en-US" sz="790" b="1" dirty="0">
                <a:solidFill>
                  <a:srgbClr val="F5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Интеграция: все данные синхронизируются в единой платформе</a:t>
            </a:r>
            <a:endParaRPr lang="en-US" sz="790" dirty="0"/>
          </a:p>
        </p:txBody>
      </p:sp>
      <p:sp>
        <p:nvSpPr>
          <p:cNvPr id="24" name="Text 21"/>
          <p:cNvSpPr txBox="1"/>
          <p:nvPr/>
        </p:nvSpPr>
        <p:spPr>
          <a:xfrm>
            <a:off x="6100312" y="3601364"/>
            <a:ext cx="2615961" cy="261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30"/>
              </a:lnSpc>
              <a:buNone/>
            </a:pPr>
            <a:r>
              <a:rPr lang="en-US" sz="790" b="1" dirty="0">
                <a:solidFill>
                  <a:srgbClr val="F5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История: полная история изменений и ремонтов объекта</a:t>
            </a:r>
            <a:endParaRPr lang="en-US" sz="790" dirty="0"/>
          </a:p>
        </p:txBody>
      </p:sp>
      <p:sp>
        <p:nvSpPr>
          <p:cNvPr id="25" name="Text 22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13</a:t>
            </a:r>
            <a:endParaRPr lang="en-US" sz="6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515316"/>
            <a:ext cx="1070841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ДИСПЕТЧЕРСКАЯ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699096"/>
            <a:ext cx="3286234" cy="52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Цифровая диспетчерская:</a:t>
            </a:r>
            <a:endParaRPr lang="en-US" sz="1870" dirty="0"/>
          </a:p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абсолютный контроль</a:t>
            </a:r>
            <a:endParaRPr lang="en-US" sz="1870" dirty="0"/>
          </a:p>
        </p:txBody>
      </p:sp>
      <p:sp>
        <p:nvSpPr>
          <p:cNvPr id="5" name="Text 2"/>
          <p:cNvSpPr txBox="1"/>
          <p:nvPr/>
        </p:nvSpPr>
        <p:spPr>
          <a:xfrm>
            <a:off x="479747" y="2457418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50" dirty="0"/>
          </a:p>
        </p:txBody>
      </p:sp>
      <p:sp>
        <p:nvSpPr>
          <p:cNvPr id="6" name="Text 3"/>
          <p:cNvSpPr txBox="1"/>
          <p:nvPr/>
        </p:nvSpPr>
        <p:spPr>
          <a:xfrm>
            <a:off x="674526" y="2439125"/>
            <a:ext cx="4049033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2D/3D визуализация: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интерактивная модель станции с точной геопривязкой каждой повреждённой панели.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479747" y="2986502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50" dirty="0"/>
          </a:p>
        </p:txBody>
      </p:sp>
      <p:sp>
        <p:nvSpPr>
          <p:cNvPr id="8" name="Text 5"/>
          <p:cNvSpPr txBox="1"/>
          <p:nvPr/>
        </p:nvSpPr>
        <p:spPr>
          <a:xfrm>
            <a:off x="674526" y="2968209"/>
            <a:ext cx="4199415" cy="13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обновление: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dashboard с ключевыми метриками (KPI) и статусами проверок.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479747" y="3381417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74526" y="3363124"/>
            <a:ext cx="3965263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Глубокая аналитика: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история облётов, сравнение периодов и тренды деградации активов.</a:t>
            </a:r>
            <a:endParaRPr lang="en-US" sz="750" dirty="0"/>
          </a:p>
        </p:txBody>
      </p:sp>
      <p:sp>
        <p:nvSpPr>
          <p:cNvPr id="11" name="Text 8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13</a:t>
            </a:r>
            <a:endParaRPr lang="en-US" sz="6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1120303"/>
            <a:ext cx="1012865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O&amp;M WORKFLOW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372381"/>
            <a:ext cx="4595545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От пикселя к ремонту: O&amp;M Workflow</a:t>
            </a:r>
            <a:endParaRPr lang="en-US" sz="1870" dirty="0"/>
          </a:p>
        </p:txBody>
      </p:sp>
      <p:sp>
        <p:nvSpPr>
          <p:cNvPr id="5" name="Text 2"/>
          <p:cNvSpPr txBox="1"/>
          <p:nvPr/>
        </p:nvSpPr>
        <p:spPr>
          <a:xfrm>
            <a:off x="479747" y="3385410"/>
            <a:ext cx="1357172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970" b="1" kern="0" spc="-1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Обнаружение</a:t>
            </a:r>
            <a:endParaRPr lang="en-US" sz="970" dirty="0"/>
          </a:p>
        </p:txBody>
      </p:sp>
      <p:sp>
        <p:nvSpPr>
          <p:cNvPr id="6" name="Text 3"/>
          <p:cNvSpPr txBox="1"/>
          <p:nvPr/>
        </p:nvSpPr>
        <p:spPr>
          <a:xfrm>
            <a:off x="479747" y="3578065"/>
            <a:ext cx="2305375" cy="127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7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выявляет дефект и присваивает ему приоритет.</a:t>
            </a:r>
            <a:endParaRPr lang="en-US" sz="720" dirty="0"/>
          </a:p>
        </p:txBody>
      </p:sp>
      <p:sp>
        <p:nvSpPr>
          <p:cNvPr id="7" name="Text 4"/>
          <p:cNvSpPr txBox="1"/>
          <p:nvPr/>
        </p:nvSpPr>
        <p:spPr>
          <a:xfrm>
            <a:off x="3328206" y="3385410"/>
            <a:ext cx="1863219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970" b="1" kern="0" spc="-1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Автоматизация задач</a:t>
            </a:r>
            <a:endParaRPr lang="en-US" sz="970" dirty="0"/>
          </a:p>
        </p:txBody>
      </p:sp>
      <p:sp>
        <p:nvSpPr>
          <p:cNvPr id="8" name="Text 5"/>
          <p:cNvSpPr txBox="1"/>
          <p:nvPr/>
        </p:nvSpPr>
        <p:spPr>
          <a:xfrm>
            <a:off x="3328206" y="3578065"/>
            <a:ext cx="2362050" cy="255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7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Платформа генерирует Work Order с точными GPS-координатами и типом проблемы.</a:t>
            </a:r>
            <a:endParaRPr lang="en-US" sz="720" dirty="0"/>
          </a:p>
        </p:txBody>
      </p:sp>
      <p:sp>
        <p:nvSpPr>
          <p:cNvPr id="9" name="Text 6"/>
          <p:cNvSpPr txBox="1"/>
          <p:nvPr/>
        </p:nvSpPr>
        <p:spPr>
          <a:xfrm>
            <a:off x="6176665" y="3385522"/>
            <a:ext cx="2102104" cy="1479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160"/>
              </a:lnSpc>
              <a:buNone/>
            </a:pPr>
            <a:r>
              <a:rPr lang="en-US" sz="970" b="1" kern="0" spc="-1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Маршрутизация бригады</a:t>
            </a:r>
            <a:endParaRPr lang="en-US" sz="970" dirty="0"/>
          </a:p>
        </p:txBody>
      </p:sp>
      <p:sp>
        <p:nvSpPr>
          <p:cNvPr id="10" name="Text 7"/>
          <p:cNvSpPr txBox="1"/>
          <p:nvPr/>
        </p:nvSpPr>
        <p:spPr>
          <a:xfrm>
            <a:off x="6176665" y="3578177"/>
            <a:ext cx="2474215" cy="255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10"/>
              </a:lnSpc>
              <a:buNone/>
            </a:pPr>
            <a:r>
              <a:rPr lang="en-US" sz="7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Инженер получает задачу с построенным маршрутом, закрытие идёт по фотоотчёту.</a:t>
            </a:r>
            <a:endParaRPr lang="en-US" sz="720" dirty="0"/>
          </a:p>
        </p:txBody>
      </p:sp>
      <p:sp>
        <p:nvSpPr>
          <p:cNvPr id="11" name="Text 8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13</a:t>
            </a:r>
            <a:endParaRPr lang="en-US" sz="6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515316"/>
            <a:ext cx="1244533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МАСШТАБИРУЕМОСТЬ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568723"/>
            <a:ext cx="3360065" cy="525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Масштабируемость:</a:t>
            </a:r>
            <a:endParaRPr lang="en-US" sz="1870" dirty="0"/>
          </a:p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сетью активов</a:t>
            </a:r>
            <a:endParaRPr lang="en-US" sz="1870" dirty="0"/>
          </a:p>
        </p:txBody>
      </p:sp>
      <p:sp>
        <p:nvSpPr>
          <p:cNvPr id="5" name="Text 2"/>
          <p:cNvSpPr txBox="1"/>
          <p:nvPr/>
        </p:nvSpPr>
        <p:spPr>
          <a:xfrm>
            <a:off x="479747" y="2327044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650" dirty="0"/>
          </a:p>
        </p:txBody>
      </p:sp>
      <p:sp>
        <p:nvSpPr>
          <p:cNvPr id="6" name="Text 3"/>
          <p:cNvSpPr txBox="1"/>
          <p:nvPr/>
        </p:nvSpPr>
        <p:spPr>
          <a:xfrm>
            <a:off x="674526" y="2308752"/>
            <a:ext cx="4075891" cy="268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Единая платформа: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подключение и контроль десятков удалённых станций из одной точки.</a:t>
            </a:r>
            <a:endParaRPr lang="en-US" sz="750" dirty="0"/>
          </a:p>
        </p:txBody>
      </p:sp>
      <p:sp>
        <p:nvSpPr>
          <p:cNvPr id="7" name="Text 4"/>
          <p:cNvSpPr txBox="1"/>
          <p:nvPr/>
        </p:nvSpPr>
        <p:spPr>
          <a:xfrm>
            <a:off x="479747" y="2856128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650" dirty="0"/>
          </a:p>
        </p:txBody>
      </p:sp>
      <p:sp>
        <p:nvSpPr>
          <p:cNvPr id="8" name="Text 5"/>
          <p:cNvSpPr txBox="1"/>
          <p:nvPr/>
        </p:nvSpPr>
        <p:spPr>
          <a:xfrm>
            <a:off x="674526" y="2837836"/>
            <a:ext cx="3922077" cy="13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Централизованный мониторинг: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общий dashboard для всего портфеля активов.</a:t>
            </a:r>
            <a:endParaRPr lang="en-US" sz="750" dirty="0"/>
          </a:p>
        </p:txBody>
      </p:sp>
      <p:sp>
        <p:nvSpPr>
          <p:cNvPr id="9" name="Text 6"/>
          <p:cNvSpPr txBox="1"/>
          <p:nvPr/>
        </p:nvSpPr>
        <p:spPr>
          <a:xfrm>
            <a:off x="479747" y="3251044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650" dirty="0"/>
          </a:p>
        </p:txBody>
      </p:sp>
      <p:sp>
        <p:nvSpPr>
          <p:cNvPr id="10" name="Text 7"/>
          <p:cNvSpPr txBox="1"/>
          <p:nvPr/>
        </p:nvSpPr>
        <p:spPr>
          <a:xfrm>
            <a:off x="674526" y="3232751"/>
            <a:ext cx="3188858" cy="13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Управление флотом: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синхронное управление множеством БПЛА.</a:t>
            </a:r>
            <a:endParaRPr lang="en-US" sz="750" dirty="0"/>
          </a:p>
        </p:txBody>
      </p:sp>
      <p:sp>
        <p:nvSpPr>
          <p:cNvPr id="11" name="Text 8"/>
          <p:cNvSpPr txBox="1"/>
          <p:nvPr/>
        </p:nvSpPr>
        <p:spPr>
          <a:xfrm>
            <a:off x="479747" y="3645959"/>
            <a:ext cx="138374" cy="115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10"/>
              </a:lnSpc>
              <a:buNone/>
            </a:pPr>
            <a:r>
              <a:rPr lang="en-US" sz="65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650" dirty="0"/>
          </a:p>
        </p:txBody>
      </p:sp>
      <p:sp>
        <p:nvSpPr>
          <p:cNvPr id="12" name="Text 9"/>
          <p:cNvSpPr txBox="1"/>
          <p:nvPr/>
        </p:nvSpPr>
        <p:spPr>
          <a:xfrm>
            <a:off x="674526" y="3627666"/>
            <a:ext cx="4107837" cy="1342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6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Унификация: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единые стандарты данных, AI-аналитики и управленческой отчётности.</a:t>
            </a:r>
            <a:endParaRPr lang="en-US" sz="750" dirty="0"/>
          </a:p>
        </p:txBody>
      </p:sp>
      <p:sp>
        <p:nvSpPr>
          <p:cNvPr id="13" name="Text 10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/ 13</a:t>
            </a:r>
            <a:endParaRPr lang="en-US" sz="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72256" y="1010133"/>
            <a:ext cx="665483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50" dirty="0">
                <a:solidFill>
                  <a:srgbClr val="123C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ЭФФЕКТ</a:t>
            </a:r>
            <a:endParaRPr lang="en-US" sz="680" dirty="0"/>
          </a:p>
        </p:txBody>
      </p:sp>
      <p:sp>
        <p:nvSpPr>
          <p:cNvPr id="4" name="Text 1"/>
          <p:cNvSpPr txBox="1"/>
          <p:nvPr/>
        </p:nvSpPr>
        <p:spPr>
          <a:xfrm>
            <a:off x="372256" y="1262211"/>
            <a:ext cx="2801721" cy="2643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60"/>
              </a:lnSpc>
              <a:buNone/>
            </a:pPr>
            <a:r>
              <a:rPr lang="en-US" sz="1870" b="1" kern="0" spc="-2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Эффект для заказчика</a:t>
            </a:r>
            <a:endParaRPr lang="en-US" sz="1870" dirty="0"/>
          </a:p>
        </p:txBody>
      </p:sp>
      <p:sp>
        <p:nvSpPr>
          <p:cNvPr id="5" name="Text 2"/>
          <p:cNvSpPr txBox="1"/>
          <p:nvPr/>
        </p:nvSpPr>
        <p:spPr>
          <a:xfrm>
            <a:off x="372256" y="1572346"/>
            <a:ext cx="1951130" cy="1787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10"/>
              </a:lnSpc>
              <a:buNone/>
            </a:pPr>
            <a:r>
              <a:rPr lang="en-US" sz="970" dirty="0">
                <a:solidFill>
                  <a:srgbClr val="4A5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Практический бизнес-результат</a:t>
            </a:r>
            <a:endParaRPr lang="en-US" sz="970" dirty="0"/>
          </a:p>
        </p:txBody>
      </p:sp>
      <p:sp>
        <p:nvSpPr>
          <p:cNvPr id="6" name="Text 3"/>
          <p:cNvSpPr txBox="1"/>
          <p:nvPr/>
        </p:nvSpPr>
        <p:spPr>
          <a:xfrm>
            <a:off x="372256" y="1890303"/>
            <a:ext cx="8530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40" b="1" kern="0" spc="-5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−60%</a:t>
            </a:r>
            <a:endParaRPr lang="en-US" sz="2440" dirty="0"/>
          </a:p>
        </p:txBody>
      </p:sp>
      <p:sp>
        <p:nvSpPr>
          <p:cNvPr id="7" name="Text 4"/>
          <p:cNvSpPr txBox="1"/>
          <p:nvPr/>
        </p:nvSpPr>
        <p:spPr>
          <a:xfrm>
            <a:off x="372256" y="2384601"/>
            <a:ext cx="1920249" cy="277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Стоимость инспекций.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Автоматизация вместо ручного труда.</a:t>
            </a:r>
            <a:endParaRPr lang="en-US" sz="750" dirty="0"/>
          </a:p>
        </p:txBody>
      </p:sp>
      <p:sp>
        <p:nvSpPr>
          <p:cNvPr id="8" name="Text 5"/>
          <p:cNvSpPr txBox="1"/>
          <p:nvPr/>
        </p:nvSpPr>
        <p:spPr>
          <a:xfrm>
            <a:off x="2517725" y="1890303"/>
            <a:ext cx="557813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40" b="1" kern="0" spc="-5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10x</a:t>
            </a:r>
            <a:endParaRPr lang="en-US" sz="2440" dirty="0"/>
          </a:p>
        </p:txBody>
      </p:sp>
      <p:sp>
        <p:nvSpPr>
          <p:cNvPr id="9" name="Text 6"/>
          <p:cNvSpPr txBox="1"/>
          <p:nvPr/>
        </p:nvSpPr>
        <p:spPr>
          <a:xfrm>
            <a:off x="2517725" y="2384601"/>
            <a:ext cx="2048624" cy="277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Ускорение поиска.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AI вместо визуального осмотра.</a:t>
            </a:r>
            <a:endParaRPr lang="en-US" sz="750" dirty="0"/>
          </a:p>
        </p:txBody>
      </p:sp>
      <p:sp>
        <p:nvSpPr>
          <p:cNvPr id="10" name="Text 7"/>
          <p:cNvSpPr txBox="1"/>
          <p:nvPr/>
        </p:nvSpPr>
        <p:spPr>
          <a:xfrm>
            <a:off x="4663194" y="1890303"/>
            <a:ext cx="85301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40" b="1" kern="0" spc="-5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−15%</a:t>
            </a:r>
            <a:endParaRPr lang="en-US" sz="2440" dirty="0"/>
          </a:p>
        </p:txBody>
      </p:sp>
      <p:sp>
        <p:nvSpPr>
          <p:cNvPr id="11" name="Text 8"/>
          <p:cNvSpPr txBox="1"/>
          <p:nvPr/>
        </p:nvSpPr>
        <p:spPr>
          <a:xfrm>
            <a:off x="4663194" y="2384601"/>
            <a:ext cx="1922024" cy="277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Потери выработки.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Раннее выявление дефектов.</a:t>
            </a:r>
            <a:endParaRPr lang="en-US" sz="750" dirty="0"/>
          </a:p>
        </p:txBody>
      </p:sp>
      <p:sp>
        <p:nvSpPr>
          <p:cNvPr id="12" name="Text 9"/>
          <p:cNvSpPr txBox="1"/>
          <p:nvPr/>
        </p:nvSpPr>
        <p:spPr>
          <a:xfrm>
            <a:off x="6808663" y="1890303"/>
            <a:ext cx="8437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50"/>
              </a:lnSpc>
              <a:buNone/>
            </a:pPr>
            <a:r>
              <a:rPr lang="en-US" sz="2440" b="1" kern="0" spc="-50" dirty="0">
                <a:solidFill>
                  <a:srgbClr val="123C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2440" dirty="0"/>
          </a:p>
        </p:txBody>
      </p:sp>
      <p:sp>
        <p:nvSpPr>
          <p:cNvPr id="13" name="Text 10"/>
          <p:cNvSpPr txBox="1"/>
          <p:nvPr/>
        </p:nvSpPr>
        <p:spPr>
          <a:xfrm>
            <a:off x="6808663" y="2384601"/>
            <a:ext cx="1947344" cy="277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090"/>
              </a:lnSpc>
              <a:buNone/>
            </a:pPr>
            <a:r>
              <a:rPr lang="en-US" sz="750" b="1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Прозрачность O&amp;M.</a:t>
            </a:r>
            <a:r>
              <a:rPr lang="en-US" sz="750" dirty="0">
                <a:solidFill>
                  <a:srgbClr val="1017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Полная видимость процессов.</a:t>
            </a:r>
            <a:endParaRPr lang="en-US" sz="750" dirty="0"/>
          </a:p>
        </p:txBody>
      </p:sp>
      <p:sp>
        <p:nvSpPr>
          <p:cNvPr id="14" name="Text 11"/>
          <p:cNvSpPr txBox="1"/>
          <p:nvPr/>
        </p:nvSpPr>
        <p:spPr>
          <a:xfrm>
            <a:off x="1812612" y="3840791"/>
            <a:ext cx="5518665" cy="1305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30"/>
              </a:lnSpc>
              <a:buNone/>
            </a:pPr>
            <a:r>
              <a:rPr lang="en-US" sz="790" b="1" dirty="0">
                <a:solidFill>
                  <a:srgbClr val="F5F6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Заказчик получает не набор технологий, а рабочий инструмент для повышения эффективности актива</a:t>
            </a:r>
            <a:endParaRPr lang="en-US" sz="790" dirty="0"/>
          </a:p>
        </p:txBody>
      </p:sp>
      <p:sp>
        <p:nvSpPr>
          <p:cNvPr id="15" name="Text 12"/>
          <p:cNvSpPr txBox="1"/>
          <p:nvPr/>
        </p:nvSpPr>
        <p:spPr>
          <a:xfrm>
            <a:off x="372256" y="4858939"/>
            <a:ext cx="446830" cy="1257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990"/>
              </a:lnSpc>
              <a:buNone/>
            </a:pPr>
            <a:r>
              <a:rPr lang="en-US" sz="680" kern="0" spc="70" dirty="0">
                <a:solidFill>
                  <a:srgbClr val="4A545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/ 13</a:t>
            </a:r>
            <a:endParaRPr lang="en-US" sz="6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912</Words>
  <Application>Microsoft Office PowerPoint</Application>
  <PresentationFormat>Экран (16:9)</PresentationFormat>
  <Paragraphs>183</Paragraphs>
  <Slides>13</Slides>
  <Notes>13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6" baseType="lpstr">
      <vt:lpstr>Arial</vt:lpstr>
      <vt:lpstr>Consolas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UNB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Интеллектуальные решения для солнечной энергетики — UNB Group</dc:title>
  <dc:subject>PptxGenJS Presentation</dc:subject>
  <dc:creator>PptxGenJS</dc:creator>
  <cp:lastModifiedBy>Amir Sh</cp:lastModifiedBy>
  <cp:revision>2</cp:revision>
  <dcterms:created xsi:type="dcterms:W3CDTF">2026-10-04T14:14:32Z</dcterms:created>
  <dcterms:modified xsi:type="dcterms:W3CDTF">2026-10-04T14:14:53Z</dcterms:modified>
</cp:coreProperties>
</file>