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466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1301575"/>
            <a:ext cx="607625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ТИТУЛ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553654"/>
            <a:ext cx="4417595" cy="67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0"/>
              </a:lnSpc>
              <a:buNone/>
            </a:pPr>
            <a:r>
              <a:rPr lang="en-US" sz="244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Delivery: автономная доставка грузов</a:t>
            </a:r>
            <a:endParaRPr lang="en-US" sz="2440" dirty="0"/>
          </a:p>
        </p:txBody>
      </p:sp>
      <p:sp>
        <p:nvSpPr>
          <p:cNvPr id="5" name="Text 2"/>
          <p:cNvSpPr txBox="1"/>
          <p:nvPr/>
        </p:nvSpPr>
        <p:spPr>
          <a:xfrm>
            <a:off x="554757" y="2364108"/>
            <a:ext cx="3112543" cy="330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Грузовые БПЛА, док-станции и единое ПО — доставка туда, куда не идёт транспорт.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54757" y="2785924"/>
            <a:ext cx="2940508" cy="330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Полезная нагрузка до 30 кг, рейсы по расписанию и полный учёт каждого груза.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7206" y="3385582"/>
            <a:ext cx="1586236" cy="284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6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Скорость доставки</a:t>
            </a:r>
            <a:endParaRPr lang="en-US" sz="860" dirty="0"/>
          </a:p>
          <a:p>
            <a:pPr marL="0" indent="0" algn="l">
              <a:lnSpc>
                <a:spcPts val="1120"/>
              </a:lnSpc>
              <a:buNone/>
            </a:pPr>
            <a:r>
              <a:rPr lang="en-US" sz="86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×10 к наземному маршруту</a:t>
            </a:r>
            <a:endParaRPr lang="en-US" sz="860" dirty="0"/>
          </a:p>
        </p:txBody>
      </p:sp>
      <p:sp>
        <p:nvSpPr>
          <p:cNvPr id="8" name="Text 5"/>
          <p:cNvSpPr txBox="1"/>
          <p:nvPr/>
        </p:nvSpPr>
        <p:spPr>
          <a:xfrm>
            <a:off x="8015904" y="1446514"/>
            <a:ext cx="591534" cy="307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PAYLOAD: 30 KG</a:t>
            </a:r>
            <a:endParaRPr lang="en-US" sz="470" dirty="0"/>
          </a:p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 BVLOS</a:t>
            </a:r>
            <a:endParaRPr lang="en-US" sz="470" dirty="0"/>
          </a:p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AUTO</a:t>
            </a:r>
            <a:endParaRPr lang="en-US" sz="470" dirty="0"/>
          </a:p>
        </p:txBody>
      </p:sp>
      <p:sp>
        <p:nvSpPr>
          <p:cNvPr id="9" name="Text 6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08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298660"/>
            <a:ext cx="781316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ПРОБЛЕМА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550738"/>
            <a:ext cx="6447938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Последняя миля обходится дороже всего маршрута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543595" y="2389094"/>
            <a:ext cx="311829" cy="10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0"/>
              </a:lnSpc>
              <a:buNone/>
            </a:pPr>
            <a:r>
              <a:rPr lang="en-US" sz="580" kern="0" spc="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РЕЛЬЕФ</a:t>
            </a:r>
            <a:endParaRPr lang="en-US" sz="580" dirty="0"/>
          </a:p>
        </p:txBody>
      </p:sp>
      <p:sp>
        <p:nvSpPr>
          <p:cNvPr id="6" name="Text 3"/>
          <p:cNvSpPr txBox="1"/>
          <p:nvPr/>
        </p:nvSpPr>
        <p:spPr>
          <a:xfrm>
            <a:off x="470595" y="2572136"/>
            <a:ext cx="2716886" cy="127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Горы, каньоны и реки: объезд занимает часы вместо минут.</a:t>
            </a:r>
            <a:endParaRPr lang="en-US" sz="720" dirty="0"/>
          </a:p>
        </p:txBody>
      </p:sp>
      <p:sp>
        <p:nvSpPr>
          <p:cNvPr id="7" name="Text 4"/>
          <p:cNvSpPr txBox="1"/>
          <p:nvPr/>
        </p:nvSpPr>
        <p:spPr>
          <a:xfrm>
            <a:off x="4798033" y="2389206"/>
            <a:ext cx="311829" cy="10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0"/>
              </a:lnSpc>
              <a:buNone/>
            </a:pPr>
            <a:r>
              <a:rPr lang="en-US" sz="580" kern="0" spc="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ПОГОДА</a:t>
            </a:r>
            <a:endParaRPr lang="en-US" sz="580" dirty="0"/>
          </a:p>
        </p:txBody>
      </p:sp>
      <p:sp>
        <p:nvSpPr>
          <p:cNvPr id="8" name="Text 5"/>
          <p:cNvSpPr txBox="1"/>
          <p:nvPr/>
        </p:nvSpPr>
        <p:spPr>
          <a:xfrm>
            <a:off x="4725033" y="2572247"/>
            <a:ext cx="2673819" cy="127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Туман, снег и распутица закрывают дорогу целыми днями.</a:t>
            </a:r>
            <a:endParaRPr lang="en-US" sz="720" dirty="0"/>
          </a:p>
        </p:txBody>
      </p:sp>
      <p:sp>
        <p:nvSpPr>
          <p:cNvPr id="9" name="Text 6"/>
          <p:cNvSpPr txBox="1"/>
          <p:nvPr/>
        </p:nvSpPr>
        <p:spPr>
          <a:xfrm>
            <a:off x="543595" y="4362667"/>
            <a:ext cx="547756" cy="10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0"/>
              </a:lnSpc>
              <a:buNone/>
            </a:pPr>
            <a:r>
              <a:rPr lang="en-US" sz="580" kern="0" spc="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УДАЛЁННОСТЬ</a:t>
            </a:r>
            <a:endParaRPr lang="en-US" sz="580" dirty="0"/>
          </a:p>
        </p:txBody>
      </p:sp>
      <p:sp>
        <p:nvSpPr>
          <p:cNvPr id="10" name="Text 7"/>
          <p:cNvSpPr txBox="1"/>
          <p:nvPr/>
        </p:nvSpPr>
        <p:spPr>
          <a:xfrm>
            <a:off x="470595" y="4545708"/>
            <a:ext cx="3052792" cy="127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объекту без дорог материалы возят вертолётом или вездеходом.</a:t>
            </a:r>
            <a:endParaRPr lang="en-US" sz="720" dirty="0"/>
          </a:p>
        </p:txBody>
      </p:sp>
      <p:sp>
        <p:nvSpPr>
          <p:cNvPr id="11" name="Text 8"/>
          <p:cNvSpPr txBox="1"/>
          <p:nvPr/>
        </p:nvSpPr>
        <p:spPr>
          <a:xfrm>
            <a:off x="4798033" y="4362778"/>
            <a:ext cx="453338" cy="10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0"/>
              </a:lnSpc>
              <a:buNone/>
            </a:pPr>
            <a:r>
              <a:rPr lang="en-US" sz="580" kern="0" spc="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СТОИМОСТЬ</a:t>
            </a:r>
            <a:endParaRPr lang="en-US" sz="580" dirty="0"/>
          </a:p>
        </p:txBody>
      </p:sp>
      <p:sp>
        <p:nvSpPr>
          <p:cNvPr id="12" name="Text 9"/>
          <p:cNvSpPr txBox="1"/>
          <p:nvPr/>
        </p:nvSpPr>
        <p:spPr>
          <a:xfrm>
            <a:off x="4725033" y="4545820"/>
            <a:ext cx="2956481" cy="127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Отдельный рейс машины ради 20 кг груза — дорого и медленно.</a:t>
            </a:r>
            <a:endParaRPr lang="en-US" sz="720" dirty="0"/>
          </a:p>
        </p:txBody>
      </p:sp>
      <p:sp>
        <p:nvSpPr>
          <p:cNvPr id="13" name="Text 10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08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917152"/>
            <a:ext cx="955008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АРХИТЕКТУРА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169231"/>
            <a:ext cx="3763412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уровня системы доставки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372256" y="1528488"/>
            <a:ext cx="5898349" cy="314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Дрон выполняет рейс, док-станция обслуживает его без человека, платформа планирует маршруты и ведёт учёт грузов. Три уровня поставляются и настраиваются как одно решение.</a:t>
            </a:r>
            <a:endParaRPr lang="en-US" sz="830" dirty="0"/>
          </a:p>
        </p:txBody>
      </p:sp>
      <p:sp>
        <p:nvSpPr>
          <p:cNvPr id="6" name="Text 3"/>
          <p:cNvSpPr txBox="1"/>
          <p:nvPr/>
        </p:nvSpPr>
        <p:spPr>
          <a:xfrm>
            <a:off x="479747" y="3588449"/>
            <a:ext cx="1019846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70" b="1" kern="0" spc="-1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Грузовой БПЛА</a:t>
            </a:r>
            <a:endParaRPr lang="en-US" sz="970" dirty="0"/>
          </a:p>
        </p:txBody>
      </p:sp>
      <p:sp>
        <p:nvSpPr>
          <p:cNvPr id="7" name="Text 4"/>
          <p:cNvSpPr txBox="1"/>
          <p:nvPr/>
        </p:nvSpPr>
        <p:spPr>
          <a:xfrm>
            <a:off x="479747" y="3781104"/>
            <a:ext cx="2593835" cy="25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30 кг полезной нагрузки, короб или лебёдка, работа в дождь и ветер.</a:t>
            </a:r>
            <a:endParaRPr lang="en-US" sz="720" dirty="0"/>
          </a:p>
        </p:txBody>
      </p:sp>
      <p:sp>
        <p:nvSpPr>
          <p:cNvPr id="8" name="Text 5"/>
          <p:cNvSpPr txBox="1"/>
          <p:nvPr/>
        </p:nvSpPr>
        <p:spPr>
          <a:xfrm>
            <a:off x="3328206" y="3588449"/>
            <a:ext cx="822610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70" b="1" kern="0" spc="-1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Док-станция</a:t>
            </a:r>
            <a:endParaRPr lang="en-US" sz="970" dirty="0"/>
          </a:p>
        </p:txBody>
      </p:sp>
      <p:sp>
        <p:nvSpPr>
          <p:cNvPr id="9" name="Text 6"/>
          <p:cNvSpPr txBox="1"/>
          <p:nvPr/>
        </p:nvSpPr>
        <p:spPr>
          <a:xfrm>
            <a:off x="3328206" y="3781104"/>
            <a:ext cx="2230598" cy="25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Автоматическая посадка, зарядка и подготовка к следующему рейсу без оператора.</a:t>
            </a:r>
            <a:endParaRPr lang="en-US" sz="720" dirty="0"/>
          </a:p>
        </p:txBody>
      </p:sp>
      <p:sp>
        <p:nvSpPr>
          <p:cNvPr id="10" name="Text 7"/>
          <p:cNvSpPr txBox="1"/>
          <p:nvPr/>
        </p:nvSpPr>
        <p:spPr>
          <a:xfrm>
            <a:off x="6176665" y="3588561"/>
            <a:ext cx="768301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70" b="1" kern="0" spc="-1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</a:t>
            </a:r>
            <a:endParaRPr lang="en-US" sz="970" dirty="0"/>
          </a:p>
        </p:txBody>
      </p:sp>
      <p:sp>
        <p:nvSpPr>
          <p:cNvPr id="11" name="Text 8"/>
          <p:cNvSpPr txBox="1"/>
          <p:nvPr/>
        </p:nvSpPr>
        <p:spPr>
          <a:xfrm>
            <a:off x="6176665" y="3781215"/>
            <a:ext cx="2305730" cy="25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Маршруты, диспетчеризация, статусы и отчёты по каждому рейсу.</a:t>
            </a:r>
            <a:endParaRPr lang="en-US" sz="720" dirty="0"/>
          </a:p>
        </p:txBody>
      </p:sp>
      <p:sp>
        <p:nvSpPr>
          <p:cNvPr id="12" name="Text 9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08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515316"/>
            <a:ext cx="1012865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АВТОНОМНОСТЬ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434554"/>
            <a:ext cx="2504387" cy="52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Док-станции: рейсы</a:t>
            </a:r>
            <a:endParaRPr lang="en-US" sz="1870" dirty="0"/>
          </a:p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расписанию 24/7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2192876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6" name="Text 3"/>
          <p:cNvSpPr txBox="1"/>
          <p:nvPr/>
        </p:nvSpPr>
        <p:spPr>
          <a:xfrm>
            <a:off x="674526" y="2174583"/>
            <a:ext cx="4061693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без пилота: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взлёт, посадка, зарядка и выгрузка данных идут по расписанию.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479747" y="2587791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674526" y="2569498"/>
            <a:ext cx="4164275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Климатическая защита: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подогрев и охлаждение батарей, класс защиты </a:t>
            </a:r>
            <a:r>
              <a:rPr lang="en-US" sz="750" b="1" dirty="0">
                <a:solidFill>
                  <a:srgbClr val="FF6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IP55+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работа от −20 °C до +50 °C.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479747" y="3116875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74526" y="3098582"/>
            <a:ext cx="3984313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Удалённый контроль: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управление рейсами из центрального офиса в любой точке мира.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479747" y="3645959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674526" y="3627666"/>
            <a:ext cx="3921367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Мобильный вариант: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станция на пикапе разворачивается на новой площадке за минуты.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08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515316"/>
            <a:ext cx="781316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МАРШРУТЫ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367470"/>
            <a:ext cx="2851888" cy="52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BVLOS-маршруты</a:t>
            </a:r>
            <a:endParaRPr lang="en-US" sz="1870" dirty="0"/>
          </a:p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безопасность полёта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2125791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6" name="Text 3"/>
          <p:cNvSpPr txBox="1"/>
          <p:nvPr/>
        </p:nvSpPr>
        <p:spPr>
          <a:xfrm>
            <a:off x="674526" y="2107499"/>
            <a:ext cx="4201900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Полёт вне зоны видимости: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маршрут строится по рельефу и высотам, а не по прямой на карте.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479747" y="2654875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674526" y="2636583"/>
            <a:ext cx="4190542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коридора: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препятствия, запретные зоны и запасные площадки проверяются до вылета.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479747" y="3183959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74526" y="3165667"/>
            <a:ext cx="3939352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груза в полёте: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вес, положение подвеса и раскачка видны оператору в реальном времени.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479747" y="3713043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674526" y="3694751"/>
            <a:ext cx="4275258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Аварийные сценарии: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возврат на площадку или посадка на резервную точку при отказе или разряде.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08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515316"/>
            <a:ext cx="89715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УПРАВЛЕНИЕ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434554"/>
            <a:ext cx="2428900" cy="52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Management</a:t>
            </a:r>
            <a:endParaRPr lang="en-US" sz="1870" dirty="0"/>
          </a:p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интеграция с ERP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2192876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6" name="Text 3"/>
          <p:cNvSpPr txBox="1"/>
          <p:nvPr/>
        </p:nvSpPr>
        <p:spPr>
          <a:xfrm>
            <a:off x="674526" y="2174583"/>
            <a:ext cx="3555527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диспетчерский экран: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все борта, площадки и рейсы в общем окне.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479747" y="2587791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674526" y="2569498"/>
            <a:ext cx="3771103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Очередь заявок: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заказ на доставку превращается в рейс автоматически — по приоритету, весу и окну вылета.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479747" y="3116875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74526" y="3098582"/>
            <a:ext cx="4175042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ERP/WMS: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статусы рейсов возвращаются в учётную систему заказчика по API.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479747" y="3645959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674526" y="3627666"/>
            <a:ext cx="3761874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Отчётность: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налёт, доставленные килограммы и стоимость рейса по каждому направлению.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08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1120303"/>
            <a:ext cx="781316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СЦЕНАРИИ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372381"/>
            <a:ext cx="4898677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доставка дроном окупается первой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3385410"/>
            <a:ext cx="1675330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70" b="1" kern="0" spc="-1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Стройка и промплощадки</a:t>
            </a:r>
            <a:endParaRPr lang="en-US" sz="970" dirty="0"/>
          </a:p>
        </p:txBody>
      </p:sp>
      <p:sp>
        <p:nvSpPr>
          <p:cNvPr id="6" name="Text 3"/>
          <p:cNvSpPr txBox="1"/>
          <p:nvPr/>
        </p:nvSpPr>
        <p:spPr>
          <a:xfrm>
            <a:off x="479747" y="3578065"/>
            <a:ext cx="2543077" cy="25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Инструмент, запчасти и пробы бетона между участками — минуя пропускной режим и пробки.</a:t>
            </a:r>
            <a:endParaRPr lang="en-US" sz="720" dirty="0"/>
          </a:p>
        </p:txBody>
      </p:sp>
      <p:sp>
        <p:nvSpPr>
          <p:cNvPr id="7" name="Text 4"/>
          <p:cNvSpPr txBox="1"/>
          <p:nvPr/>
        </p:nvSpPr>
        <p:spPr>
          <a:xfrm>
            <a:off x="3328206" y="3385410"/>
            <a:ext cx="2091574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70" b="1" kern="0" spc="-1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Медицина и удалённые посёлки</a:t>
            </a:r>
            <a:endParaRPr lang="en-US" sz="970" dirty="0"/>
          </a:p>
        </p:txBody>
      </p:sp>
      <p:sp>
        <p:nvSpPr>
          <p:cNvPr id="8" name="Text 5"/>
          <p:cNvSpPr txBox="1"/>
          <p:nvPr/>
        </p:nvSpPr>
        <p:spPr>
          <a:xfrm>
            <a:off x="3328206" y="3578065"/>
            <a:ext cx="2511841" cy="25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Анализы, вакцины и препараты в горные и отрезанные распутицей районы.</a:t>
            </a:r>
            <a:endParaRPr lang="en-US" sz="720" dirty="0"/>
          </a:p>
        </p:txBody>
      </p:sp>
      <p:sp>
        <p:nvSpPr>
          <p:cNvPr id="9" name="Text 6"/>
          <p:cNvSpPr txBox="1"/>
          <p:nvPr/>
        </p:nvSpPr>
        <p:spPr>
          <a:xfrm>
            <a:off x="6176665" y="3385522"/>
            <a:ext cx="1296356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70" b="1" kern="0" spc="-1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Порты и энергетика</a:t>
            </a:r>
            <a:endParaRPr lang="en-US" sz="970" dirty="0"/>
          </a:p>
        </p:txBody>
      </p:sp>
      <p:sp>
        <p:nvSpPr>
          <p:cNvPr id="10" name="Text 7"/>
          <p:cNvSpPr txBox="1"/>
          <p:nvPr/>
        </p:nvSpPr>
        <p:spPr>
          <a:xfrm>
            <a:off x="6176665" y="3578177"/>
            <a:ext cx="2462739" cy="25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Доставка на суда, буровые и подстанции без катера и спецтранспорта.</a:t>
            </a:r>
            <a:endParaRPr lang="en-US" sz="720" dirty="0"/>
          </a:p>
        </p:txBody>
      </p:sp>
      <p:sp>
        <p:nvSpPr>
          <p:cNvPr id="11" name="Text 8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08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1010133"/>
            <a:ext cx="665483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ЭФФЕКТ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262211"/>
            <a:ext cx="265962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маршрута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372256" y="1572346"/>
            <a:ext cx="2819587" cy="178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0"/>
              </a:lnSpc>
              <a:buNone/>
            </a:pPr>
            <a:r>
              <a:rPr lang="en-US" sz="970" dirty="0">
                <a:solidFill>
                  <a:srgbClr val="4A5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меняется после запуска доставки дроном</a:t>
            </a:r>
            <a:endParaRPr lang="en-US" sz="970" dirty="0"/>
          </a:p>
        </p:txBody>
      </p:sp>
      <p:sp>
        <p:nvSpPr>
          <p:cNvPr id="6" name="Text 3"/>
          <p:cNvSpPr txBox="1"/>
          <p:nvPr/>
        </p:nvSpPr>
        <p:spPr>
          <a:xfrm>
            <a:off x="372256" y="1890303"/>
            <a:ext cx="5670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40" b="1" kern="0" spc="-5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×10</a:t>
            </a:r>
            <a:endParaRPr lang="en-US" sz="2440" dirty="0"/>
          </a:p>
        </p:txBody>
      </p:sp>
      <p:sp>
        <p:nvSpPr>
          <p:cNvPr id="7" name="Text 4"/>
          <p:cNvSpPr txBox="1"/>
          <p:nvPr/>
        </p:nvSpPr>
        <p:spPr>
          <a:xfrm>
            <a:off x="372256" y="2384601"/>
            <a:ext cx="1796370" cy="277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Скорость доставки.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Рейс по прямой вместо объезда по дорогам.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2517725" y="1890303"/>
            <a:ext cx="8530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40" b="1" kern="0" spc="-5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−70%</a:t>
            </a:r>
            <a:endParaRPr lang="en-US" sz="2440" dirty="0"/>
          </a:p>
        </p:txBody>
      </p:sp>
      <p:sp>
        <p:nvSpPr>
          <p:cNvPr id="9" name="Text 6"/>
          <p:cNvSpPr txBox="1"/>
          <p:nvPr/>
        </p:nvSpPr>
        <p:spPr>
          <a:xfrm>
            <a:off x="2517725" y="2384601"/>
            <a:ext cx="2033125" cy="277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рейса.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Нет водителя, топлива и амортизации машины.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4663194" y="1890303"/>
            <a:ext cx="6426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40" b="1" kern="0" spc="-5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2440" dirty="0"/>
          </a:p>
        </p:txBody>
      </p:sp>
      <p:sp>
        <p:nvSpPr>
          <p:cNvPr id="11" name="Text 8"/>
          <p:cNvSpPr txBox="1"/>
          <p:nvPr/>
        </p:nvSpPr>
        <p:spPr>
          <a:xfrm>
            <a:off x="4663194" y="2384601"/>
            <a:ext cx="2102459" cy="277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Доступность.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Ночь, выходные и распутица не останавливают рейс.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6808663" y="1890303"/>
            <a:ext cx="2049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40" b="1" kern="0" spc="-5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40" dirty="0"/>
          </a:p>
        </p:txBody>
      </p:sp>
      <p:sp>
        <p:nvSpPr>
          <p:cNvPr id="13" name="Text 10"/>
          <p:cNvSpPr txBox="1"/>
          <p:nvPr/>
        </p:nvSpPr>
        <p:spPr>
          <a:xfrm>
            <a:off x="6808663" y="2384601"/>
            <a:ext cx="1810804" cy="277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Людей в опасной зоне.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Груз идёт по воздуху, а не по горной дороге.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1677015" y="3840791"/>
            <a:ext cx="5789969" cy="1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Экономику маршрута считаем до внедрения: дальность, вес, частота рейсов и текущая стоимость доставки</a:t>
            </a:r>
            <a:endParaRPr lang="en-US" sz="790" dirty="0"/>
          </a:p>
        </p:txBody>
      </p:sp>
      <p:sp>
        <p:nvSpPr>
          <p:cNvPr id="15" name="Text 12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08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</Words>
  <Application>Microsoft Office PowerPoint</Application>
  <PresentationFormat>Экран (16:9)</PresentationFormat>
  <Paragraphs>97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UNB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Drone Delivery: автономная доставка грузов — UNB Group</dc:title>
  <dc:subject>PptxGenJS Presentation</dc:subject>
  <dc:creator>PptxGenJS</dc:creator>
  <cp:lastModifiedBy>Amir Sh</cp:lastModifiedBy>
  <cp:revision>2</cp:revision>
  <dcterms:created xsi:type="dcterms:W3CDTF">2026-10-04T14:14:00Z</dcterms:created>
  <dcterms:modified xsi:type="dcterms:W3CDTF">2026-10-04T14:14:40Z</dcterms:modified>
</cp:coreProperties>
</file>