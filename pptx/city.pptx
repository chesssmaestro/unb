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ubik" pitchFamily="2" charset="-79"/>
      <p:regular r:id="rId13"/>
      <p:bold r:id="rId14"/>
    </p:embeddedFont>
    <p:embeddedFont>
      <p:font typeface="Rubik Medium" pitchFamily="2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3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76275"/>
            <a:ext cx="3943966" cy="173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80"/>
              </a:lnSpc>
              <a:buNone/>
            </a:pPr>
            <a:r>
              <a:rPr lang="en-US" sz="3020" b="1" kern="0" spc="-3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Интеллектуальная платформа Smart City мониторинга и управления</a:t>
            </a:r>
            <a:endParaRPr lang="en-US" sz="302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2192531"/>
            <a:ext cx="3831327" cy="68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3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Дроны, AI-аналитика, цифровой двойник города и автоматизация городских процессов</a:t>
            </a:r>
            <a:endParaRPr lang="en-US" sz="1330" dirty="0"/>
          </a:p>
        </p:txBody>
      </p:sp>
      <p:sp>
        <p:nvSpPr>
          <p:cNvPr id="5" name="Text 2"/>
          <p:cNvSpPr txBox="1"/>
          <p:nvPr/>
        </p:nvSpPr>
        <p:spPr>
          <a:xfrm>
            <a:off x="427062" y="2967950"/>
            <a:ext cx="4103459" cy="794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Мы предлагаем единое решение для управления городом, которое объединяет автономные дроны, интеллектуальный анализ данных, 2D/3D цифровую модель городской инфраструктуры и системы мониторинга.</a:t>
            </a:r>
            <a:endParaRPr lang="en-US" sz="1040" dirty="0"/>
          </a:p>
        </p:txBody>
      </p:sp>
      <p:sp>
        <p:nvSpPr>
          <p:cNvPr id="6" name="Text 3"/>
          <p:cNvSpPr txBox="1"/>
          <p:nvPr/>
        </p:nvSpPr>
        <p:spPr>
          <a:xfrm>
            <a:off x="427062" y="3853441"/>
            <a:ext cx="3869426" cy="59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 позволяет повысить безопасность, ускорить реагирование на инциденты и перевести городские процессы в цифровой формат.</a:t>
            </a:r>
            <a:endParaRPr lang="en-US" sz="1040" dirty="0"/>
          </a:p>
        </p:txBody>
      </p:sp>
      <p:sp>
        <p:nvSpPr>
          <p:cNvPr id="7" name="Text 4"/>
          <p:cNvSpPr txBox="1"/>
          <p:nvPr/>
        </p:nvSpPr>
        <p:spPr>
          <a:xfrm>
            <a:off x="573063" y="4744254"/>
            <a:ext cx="1653559" cy="34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80" b="1" kern="0" spc="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ЕДИНОЕ РЕШЕНИЕ</a:t>
            </a:r>
            <a:endParaRPr lang="en-US" sz="108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80" b="1" kern="0" spc="10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УМНОГО ГОРОДА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8846307" y="4909347"/>
            <a:ext cx="143107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70461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Основные проблемы городского управления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08305"/>
            <a:ext cx="7513986" cy="3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Современные города имеют сложную инфраструктуру, большое количество объектов и требуют постоянного мониторинга. Традиционные методы контроля не обеспечивают достаточную скорость и точность.</a:t>
            </a:r>
            <a:endParaRPr lang="en-US" sz="1040" dirty="0"/>
          </a:p>
        </p:txBody>
      </p:sp>
      <p:sp>
        <p:nvSpPr>
          <p:cNvPr id="5" name="Text 2"/>
          <p:cNvSpPr txBox="1"/>
          <p:nvPr/>
        </p:nvSpPr>
        <p:spPr>
          <a:xfrm>
            <a:off x="557994" y="2509403"/>
            <a:ext cx="3407629" cy="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Большая территория и высокая плотность объектов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4775932" y="2361170"/>
            <a:ext cx="3518730" cy="29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Низкая эффективность ручного контроля и риски для персонала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557994" y="4060825"/>
            <a:ext cx="4030812" cy="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Слепые зоны камер и медленное реагирование на инциденты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4775932" y="4060825"/>
            <a:ext cx="3593152" cy="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Разрозненные данные и отсутствие единой аналитики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1873187" y="4506464"/>
            <a:ext cx="5397626" cy="16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итоге: </a:t>
            </a:r>
            <a:r>
              <a:rPr lang="en-US" sz="108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низкая скорость реагирования и высокие операционные риски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8831796" y="4909347"/>
            <a:ext cx="158489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6311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Единая цифровая платформа Smart City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08305"/>
            <a:ext cx="6118066" cy="3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Решение объединяет все процессы мониторинга, анализа и управления городом в одной системе.</a:t>
            </a:r>
            <a:endParaRPr lang="en-US" sz="1040" dirty="0"/>
          </a:p>
        </p:txBody>
      </p:sp>
      <p:sp>
        <p:nvSpPr>
          <p:cNvPr id="5" name="Text 2"/>
          <p:cNvSpPr txBox="1"/>
          <p:nvPr/>
        </p:nvSpPr>
        <p:spPr>
          <a:xfrm>
            <a:off x="854649" y="2542028"/>
            <a:ext cx="1686215" cy="37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Автономные дроны</a:t>
            </a:r>
            <a:endParaRPr lang="en-US" sz="122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станции</a:t>
            </a:r>
            <a:endParaRPr lang="en-US" sz="1220" dirty="0"/>
          </a:p>
        </p:txBody>
      </p:sp>
      <p:sp>
        <p:nvSpPr>
          <p:cNvPr id="6" name="Text 3"/>
          <p:cNvSpPr txBox="1"/>
          <p:nvPr/>
        </p:nvSpPr>
        <p:spPr>
          <a:xfrm>
            <a:off x="980543" y="2968041"/>
            <a:ext cx="1434315" cy="15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сбор фото, видео, LiDAR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096258" y="2703463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3681690" y="2542028"/>
            <a:ext cx="1780397" cy="37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AI-распознавание</a:t>
            </a:r>
            <a:endParaRPr lang="en-US" sz="122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цифровой двойник</a:t>
            </a:r>
            <a:endParaRPr lang="en-US" sz="1220" dirty="0"/>
          </a:p>
        </p:txBody>
      </p:sp>
      <p:sp>
        <p:nvSpPr>
          <p:cNvPr id="9" name="Text 6"/>
          <p:cNvSpPr txBox="1"/>
          <p:nvPr/>
        </p:nvSpPr>
        <p:spPr>
          <a:xfrm>
            <a:off x="4117690" y="2968041"/>
            <a:ext cx="908509" cy="15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данных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70501" y="2703463"/>
            <a:ext cx="11033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3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›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6926263" y="2542028"/>
            <a:ext cx="1039960" cy="37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</a:t>
            </a:r>
            <a:endParaRPr lang="en-US" sz="122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управления</a:t>
            </a:r>
            <a:endParaRPr lang="en-US" sz="1220" dirty="0"/>
          </a:p>
        </p:txBody>
      </p:sp>
      <p:sp>
        <p:nvSpPr>
          <p:cNvPr id="12" name="Text 9"/>
          <p:cNvSpPr txBox="1"/>
          <p:nvPr/>
        </p:nvSpPr>
        <p:spPr>
          <a:xfrm>
            <a:off x="6668802" y="2968041"/>
            <a:ext cx="1554882" cy="15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система задач и контроля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08350" y="4544153"/>
            <a:ext cx="212718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Всё в едином цифровом контуре</a:t>
            </a:r>
            <a:endParaRPr lang="en-US" sz="930" dirty="0"/>
          </a:p>
        </p:txBody>
      </p:sp>
      <p:sp>
        <p:nvSpPr>
          <p:cNvPr id="14" name="Text 11"/>
          <p:cNvSpPr txBox="1"/>
          <p:nvPr/>
        </p:nvSpPr>
        <p:spPr>
          <a:xfrm>
            <a:off x="8830456" y="4909347"/>
            <a:ext cx="159908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2523318" cy="675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 мониторинга</a:t>
            </a:r>
            <a:endParaRPr lang="en-US" sz="2300" dirty="0"/>
          </a:p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 управления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878906" y="2562651"/>
            <a:ext cx="209957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01.</a:t>
            </a:r>
            <a:endParaRPr lang="en-US" sz="970" dirty="0"/>
          </a:p>
        </p:txBody>
      </p:sp>
      <p:sp>
        <p:nvSpPr>
          <p:cNvPr id="5" name="Text 2"/>
          <p:cNvSpPr txBox="1"/>
          <p:nvPr/>
        </p:nvSpPr>
        <p:spPr>
          <a:xfrm>
            <a:off x="568320" y="2739984"/>
            <a:ext cx="831128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Планирование миссии</a:t>
            </a:r>
            <a:endParaRPr lang="en-US" sz="790" dirty="0"/>
          </a:p>
        </p:txBody>
      </p:sp>
      <p:sp>
        <p:nvSpPr>
          <p:cNvPr id="6" name="Text 3"/>
          <p:cNvSpPr txBox="1"/>
          <p:nvPr/>
        </p:nvSpPr>
        <p:spPr>
          <a:xfrm>
            <a:off x="2064750" y="2562651"/>
            <a:ext cx="230308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02.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1817110" y="2739984"/>
            <a:ext cx="725588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Автономный вылет дрона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3260060" y="2627950"/>
            <a:ext cx="231728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03.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3004969" y="2805282"/>
            <a:ext cx="741798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Сбор данных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4455370" y="2627950"/>
            <a:ext cx="233147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04.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4283457" y="2805282"/>
            <a:ext cx="576862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AI-анализ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5653165" y="2562651"/>
            <a:ext cx="229598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05.</a:t>
            </a:r>
            <a:endParaRPr lang="en-US" sz="970" dirty="0"/>
          </a:p>
        </p:txBody>
      </p:sp>
      <p:sp>
        <p:nvSpPr>
          <p:cNvPr id="13" name="Text 10"/>
          <p:cNvSpPr txBox="1"/>
          <p:nvPr/>
        </p:nvSpPr>
        <p:spPr>
          <a:xfrm>
            <a:off x="5316790" y="2739984"/>
            <a:ext cx="902238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Визуализация в системе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6848242" y="2562651"/>
            <a:ext cx="231373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06.</a:t>
            </a:r>
            <a:endParaRPr lang="en-US" sz="970" dirty="0"/>
          </a:p>
        </p:txBody>
      </p:sp>
      <p:sp>
        <p:nvSpPr>
          <p:cNvPr id="15" name="Text 12"/>
          <p:cNvSpPr txBox="1"/>
          <p:nvPr/>
        </p:nvSpPr>
        <p:spPr>
          <a:xfrm>
            <a:off x="6532687" y="2739984"/>
            <a:ext cx="862483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Формирование задач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8053728" y="2562651"/>
            <a:ext cx="212442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970" dirty="0">
                <a:solidFill>
                  <a:srgbClr val="00579A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07.</a:t>
            </a:r>
            <a:endParaRPr lang="en-US" sz="970" dirty="0"/>
          </a:p>
        </p:txBody>
      </p:sp>
      <p:sp>
        <p:nvSpPr>
          <p:cNvPr id="17" name="Text 14"/>
          <p:cNvSpPr txBox="1"/>
          <p:nvPr/>
        </p:nvSpPr>
        <p:spPr>
          <a:xfrm>
            <a:off x="7805374" y="2739984"/>
            <a:ext cx="709261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выполнения</a:t>
            </a:r>
            <a:endParaRPr lang="en-US" sz="790" dirty="0"/>
          </a:p>
        </p:txBody>
      </p:sp>
      <p:sp>
        <p:nvSpPr>
          <p:cNvPr id="18" name="Text 15"/>
          <p:cNvSpPr txBox="1"/>
          <p:nvPr/>
        </p:nvSpPr>
        <p:spPr>
          <a:xfrm>
            <a:off x="1861595" y="4544153"/>
            <a:ext cx="542069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Система автоматически выявляет инциденты и запускает процессы реагирования</a:t>
            </a:r>
            <a:endParaRPr lang="en-US" sz="930" dirty="0"/>
          </a:p>
        </p:txBody>
      </p:sp>
      <p:sp>
        <p:nvSpPr>
          <p:cNvPr id="19" name="Text 16"/>
          <p:cNvSpPr txBox="1"/>
          <p:nvPr/>
        </p:nvSpPr>
        <p:spPr>
          <a:xfrm>
            <a:off x="8828670" y="4909347"/>
            <a:ext cx="161801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53933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Цифровая база: Основа Smart City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08305"/>
            <a:ext cx="6134157" cy="19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 формирует цифровой двойник города на основе данных с дронов и сенсоров.</a:t>
            </a:r>
            <a:endParaRPr lang="en-US" sz="1040" dirty="0"/>
          </a:p>
        </p:txBody>
      </p:sp>
      <p:sp>
        <p:nvSpPr>
          <p:cNvPr id="5" name="Text 2"/>
          <p:cNvSpPr txBox="1"/>
          <p:nvPr/>
        </p:nvSpPr>
        <p:spPr>
          <a:xfrm>
            <a:off x="550850" y="1722744"/>
            <a:ext cx="1990057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3D-моделирование городской среды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50850" y="2355524"/>
            <a:ext cx="1941428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Построение цифровых карт и интеграция геоданных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550850" y="2988304"/>
            <a:ext cx="1460464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Хранение объектов инфраструктуры и IoT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550850" y="3621084"/>
            <a:ext cx="2296620" cy="15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Визуализация в реальном времени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2338415" y="4544153"/>
            <a:ext cx="4467170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Единая цифровая база для управления городом в реальном времени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8831126" y="4909347"/>
            <a:ext cx="159198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72407" y="383418"/>
            <a:ext cx="3599186" cy="675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Городской мониторинг</a:t>
            </a:r>
            <a:endParaRPr lang="en-US" sz="2300" dirty="0"/>
          </a:p>
          <a:p>
            <a:pPr marL="0" indent="0" algn="ctr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без участия человека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550850" y="2222918"/>
            <a:ext cx="1619247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Автоматический взлёт и посадка (дрон-станции)</a:t>
            </a:r>
            <a:endParaRPr lang="en-US" sz="930" dirty="0"/>
          </a:p>
        </p:txBody>
      </p:sp>
      <p:sp>
        <p:nvSpPr>
          <p:cNvPr id="5" name="Text 2"/>
          <p:cNvSpPr txBox="1"/>
          <p:nvPr/>
        </p:nvSpPr>
        <p:spPr>
          <a:xfrm>
            <a:off x="550850" y="2855698"/>
            <a:ext cx="1845472" cy="46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Регулярные облёты по расписанию и повторяемые маршруты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6851191" y="2300048"/>
            <a:ext cx="1272101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Централизованное управление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6851191" y="2932828"/>
            <a:ext cx="1846655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Автоматический возврат на базу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3039096" y="4544153"/>
            <a:ext cx="3065807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Круглосуточная работа без участия оператора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8830345" y="4909347"/>
            <a:ext cx="160027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63402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AI-контроль: Распознавание нарушений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808305"/>
            <a:ext cx="6203492" cy="19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Система выявляет широкий спектр событий в городской среде в автоматическом режиме.</a:t>
            </a:r>
            <a:endParaRPr lang="en-US" sz="1040" dirty="0"/>
          </a:p>
        </p:txBody>
      </p:sp>
      <p:sp>
        <p:nvSpPr>
          <p:cNvPr id="5" name="Text 2"/>
          <p:cNvSpPr txBox="1"/>
          <p:nvPr/>
        </p:nvSpPr>
        <p:spPr>
          <a:xfrm>
            <a:off x="543706" y="1923800"/>
            <a:ext cx="1861563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Незаконное строительство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543706" y="2239911"/>
            <a:ext cx="148329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Мусор и загрязнения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543706" y="2556022"/>
            <a:ext cx="1796015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Транспортные нарушения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543706" y="2872133"/>
            <a:ext cx="2099620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Скопления людей и инциденты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543706" y="3188244"/>
            <a:ext cx="2118432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Повреждение инфраструктуры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543706" y="3504355"/>
            <a:ext cx="1015705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Пожары и ЧС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543706" y="3820466"/>
            <a:ext cx="1828907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2BA3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[!] </a:t>
            </a: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Экологические нарушения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8838493" y="4909347"/>
            <a:ext cx="151389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4362222" cy="675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Интеллектуальная система</a:t>
            </a:r>
            <a:endParaRPr lang="en-US" sz="2300" dirty="0"/>
          </a:p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принятия решений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427062" y="1141271"/>
            <a:ext cx="6161725" cy="39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40" dirty="0">
                <a:solidFill>
                  <a:srgbClr val="5250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AI-платформа анализирует данные в реальном времени и помогает управлять городом на макро-уровне.</a:t>
            </a:r>
            <a:endParaRPr lang="en-US" sz="1040" dirty="0"/>
          </a:p>
        </p:txBody>
      </p:sp>
      <p:sp>
        <p:nvSpPr>
          <p:cNvPr id="5" name="Text 2"/>
          <p:cNvSpPr txBox="1"/>
          <p:nvPr/>
        </p:nvSpPr>
        <p:spPr>
          <a:xfrm>
            <a:off x="550850" y="2748430"/>
            <a:ext cx="1770576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Распознавание объектов и трекинг транспорта</a:t>
            </a:r>
            <a:endParaRPr lang="en-US" sz="930" dirty="0"/>
          </a:p>
        </p:txBody>
      </p:sp>
      <p:sp>
        <p:nvSpPr>
          <p:cNvPr id="6" name="Text 3"/>
          <p:cNvSpPr txBox="1"/>
          <p:nvPr/>
        </p:nvSpPr>
        <p:spPr>
          <a:xfrm>
            <a:off x="550850" y="3381210"/>
            <a:ext cx="1411480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поведения и выявление аномалий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6851191" y="2825449"/>
            <a:ext cx="1672254" cy="15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Прогнозирование рисков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6851191" y="3304080"/>
            <a:ext cx="1811988" cy="30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Автоматическая генерация отчётов</a:t>
            </a:r>
            <a:endParaRPr lang="en-US" sz="930" dirty="0"/>
          </a:p>
        </p:txBody>
      </p:sp>
      <p:sp>
        <p:nvSpPr>
          <p:cNvPr id="9" name="Text 6"/>
          <p:cNvSpPr txBox="1"/>
          <p:nvPr/>
        </p:nvSpPr>
        <p:spPr>
          <a:xfrm>
            <a:off x="8827331" y="4909347"/>
            <a:ext cx="163221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62" y="383418"/>
            <a:ext cx="6875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Основные сценарии применения Smart City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217880" y="2057909"/>
            <a:ext cx="1385923" cy="27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Городское управление</a:t>
            </a:r>
            <a:endParaRPr lang="en-US" sz="860" dirty="0"/>
          </a:p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(Urban Governance)</a:t>
            </a:r>
            <a:endParaRPr lang="en-US" sz="860" dirty="0"/>
          </a:p>
        </p:txBody>
      </p:sp>
      <p:sp>
        <p:nvSpPr>
          <p:cNvPr id="5" name="Text 2"/>
          <p:cNvSpPr txBox="1"/>
          <p:nvPr/>
        </p:nvSpPr>
        <p:spPr>
          <a:xfrm>
            <a:off x="1240482" y="2614675"/>
            <a:ext cx="1340607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Логистика и доставка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1163453" y="3034482"/>
            <a:ext cx="1494776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Безопасность и полиция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6616167" y="1916485"/>
            <a:ext cx="1233647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Транспорт и трафик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6318002" y="2336292"/>
            <a:ext cx="1830090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Экология и мониторинг среды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202641" y="2756099"/>
            <a:ext cx="2060811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Инфраструктура и строительство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6656629" y="3175906"/>
            <a:ext cx="1152836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ЧС и реагирование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3021115" y="4544153"/>
            <a:ext cx="310165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Масштабируемость на весь город и все службы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8831238" y="4909347"/>
            <a:ext cx="159080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48209" y="383418"/>
            <a:ext cx="6447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20"/>
              </a:lnSpc>
              <a:buNone/>
            </a:pPr>
            <a:r>
              <a:rPr lang="en-US" sz="2300" b="1" kern="0" spc="-2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Эффект от внедрения: Бизнес-результат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257001" y="1143304"/>
            <a:ext cx="1987454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Традиционные методы</a:t>
            </a:r>
            <a:endParaRPr lang="en-US" sz="1220" dirty="0"/>
          </a:p>
        </p:txBody>
      </p:sp>
      <p:sp>
        <p:nvSpPr>
          <p:cNvPr id="5" name="Text 2"/>
          <p:cNvSpPr txBox="1"/>
          <p:nvPr/>
        </p:nvSpPr>
        <p:spPr>
          <a:xfrm>
            <a:off x="5898754" y="1143304"/>
            <a:ext cx="993934" cy="1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2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</a:t>
            </a:r>
            <a:endParaRPr lang="en-US" sz="1220" dirty="0"/>
          </a:p>
        </p:txBody>
      </p:sp>
      <p:sp>
        <p:nvSpPr>
          <p:cNvPr id="6" name="Text 3"/>
          <p:cNvSpPr txBox="1"/>
          <p:nvPr/>
        </p:nvSpPr>
        <p:spPr>
          <a:xfrm>
            <a:off x="554868" y="1839593"/>
            <a:ext cx="2651456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Ручной и медленный поиск инцидентов</a:t>
            </a:r>
            <a:endParaRPr lang="en-US" sz="1010" dirty="0"/>
          </a:p>
        </p:txBody>
      </p:sp>
      <p:sp>
        <p:nvSpPr>
          <p:cNvPr id="7" name="Text 4"/>
          <p:cNvSpPr txBox="1"/>
          <p:nvPr/>
        </p:nvSpPr>
        <p:spPr>
          <a:xfrm>
            <a:off x="4202311" y="1839593"/>
            <a:ext cx="2868216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↑ </a:t>
            </a:r>
            <a:r>
              <a:rPr lang="en-US" sz="101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Ускоренное выявление (AI-аналитика)</a:t>
            </a:r>
            <a:endParaRPr lang="en-US" sz="1010" dirty="0"/>
          </a:p>
        </p:txBody>
      </p:sp>
      <p:sp>
        <p:nvSpPr>
          <p:cNvPr id="8" name="Text 5"/>
          <p:cNvSpPr txBox="1"/>
          <p:nvPr/>
        </p:nvSpPr>
        <p:spPr>
          <a:xfrm>
            <a:off x="554868" y="2525505"/>
            <a:ext cx="2597267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Высокая нагрузка на персонал и риски</a:t>
            </a:r>
            <a:endParaRPr lang="en-US" sz="1010" dirty="0"/>
          </a:p>
        </p:txBody>
      </p:sp>
      <p:sp>
        <p:nvSpPr>
          <p:cNvPr id="9" name="Text 6"/>
          <p:cNvSpPr txBox="1"/>
          <p:nvPr/>
        </p:nvSpPr>
        <p:spPr>
          <a:xfrm>
            <a:off x="4202311" y="2525505"/>
            <a:ext cx="3998748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↓ </a:t>
            </a:r>
            <a:r>
              <a:rPr lang="en-US" sz="101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Снижение рутинных задач и повышение безопасности</a:t>
            </a:r>
            <a:endParaRPr lang="en-US" sz="1010" dirty="0"/>
          </a:p>
        </p:txBody>
      </p:sp>
      <p:sp>
        <p:nvSpPr>
          <p:cNvPr id="10" name="Text 7"/>
          <p:cNvSpPr txBox="1"/>
          <p:nvPr/>
        </p:nvSpPr>
        <p:spPr>
          <a:xfrm>
            <a:off x="554868" y="3212867"/>
            <a:ext cx="2644121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Зависимость от человеческого фактора</a:t>
            </a:r>
            <a:endParaRPr lang="en-US" sz="1010" dirty="0"/>
          </a:p>
        </p:txBody>
      </p:sp>
      <p:sp>
        <p:nvSpPr>
          <p:cNvPr id="11" name="Text 8"/>
          <p:cNvSpPr txBox="1"/>
          <p:nvPr/>
        </p:nvSpPr>
        <p:spPr>
          <a:xfrm>
            <a:off x="4202311" y="3212867"/>
            <a:ext cx="2638323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 </a:t>
            </a:r>
            <a:r>
              <a:rPr lang="en-US" sz="101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Повышение точности мониторинга</a:t>
            </a:r>
            <a:endParaRPr lang="en-US" sz="1010" dirty="0"/>
          </a:p>
        </p:txBody>
      </p:sp>
      <p:sp>
        <p:nvSpPr>
          <p:cNvPr id="12" name="Text 9"/>
          <p:cNvSpPr txBox="1"/>
          <p:nvPr/>
        </p:nvSpPr>
        <p:spPr>
          <a:xfrm>
            <a:off x="554868" y="3900342"/>
            <a:ext cx="2169191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Высокие операционные затраты</a:t>
            </a:r>
            <a:endParaRPr lang="en-US" sz="1010" dirty="0"/>
          </a:p>
        </p:txBody>
      </p:sp>
      <p:sp>
        <p:nvSpPr>
          <p:cNvPr id="13" name="Text 10"/>
          <p:cNvSpPr txBox="1"/>
          <p:nvPr/>
        </p:nvSpPr>
        <p:spPr>
          <a:xfrm>
            <a:off x="4202311" y="3900342"/>
            <a:ext cx="2586381" cy="16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086E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↓ </a:t>
            </a:r>
            <a:r>
              <a:rPr lang="en-US" sz="1010" b="1" dirty="0">
                <a:solidFill>
                  <a:srgbClr val="00579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Уменьшение затрат на мониторинг</a:t>
            </a:r>
            <a:endParaRPr lang="en-US" sz="1010" dirty="0"/>
          </a:p>
        </p:txBody>
      </p:sp>
      <p:sp>
        <p:nvSpPr>
          <p:cNvPr id="14" name="Text 11"/>
          <p:cNvSpPr txBox="1"/>
          <p:nvPr/>
        </p:nvSpPr>
        <p:spPr>
          <a:xfrm>
            <a:off x="2901377" y="4544153"/>
            <a:ext cx="3341134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930" b="1" dirty="0">
                <a:solidFill>
                  <a:srgbClr val="BAE1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Переход к предиктивному data-driven управлению</a:t>
            </a:r>
            <a:endParaRPr lang="en-US" sz="930" dirty="0"/>
          </a:p>
        </p:txBody>
      </p:sp>
      <p:sp>
        <p:nvSpPr>
          <p:cNvPr id="15" name="Text 12"/>
          <p:cNvSpPr txBox="1"/>
          <p:nvPr/>
        </p:nvSpPr>
        <p:spPr>
          <a:xfrm>
            <a:off x="8846307" y="4909347"/>
            <a:ext cx="143107" cy="1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720" kern="0" spc="40" dirty="0">
                <a:solidFill>
                  <a:srgbClr val="5BB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Экран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Rubik Medium</vt:lpstr>
      <vt:lpstr>Arial</vt:lpstr>
      <vt:lpstr>Rubik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платформа Smart City — UNB Group</dc:title>
  <dc:subject>PptxGenJS Presentation</dc:subject>
  <dc:creator>PptxGenJS</dc:creator>
  <cp:lastModifiedBy>Amir Sh</cp:lastModifiedBy>
  <cp:revision>2</cp:revision>
  <dcterms:created xsi:type="dcterms:W3CDTF">2026-10-04T14:13:51Z</dcterms:created>
  <dcterms:modified xsi:type="dcterms:W3CDTF">2026-10-04T14:14:35Z</dcterms:modified>
</cp:coreProperties>
</file>